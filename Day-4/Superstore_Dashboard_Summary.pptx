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0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822960"/>
          </a:xfrm>
          <a:custGeom>
            <a:avLst/>
            <a:gdLst/>
            <a:ahLst/>
            <a:cxnLst/>
            <a:rect l="l" t="t" r="r" b="b"/>
            <a:pathLst>
              <a:path w="9144000" h="822960">
                <a:moveTo>
                  <a:pt x="9144000" y="0"/>
                </a:moveTo>
                <a:lnTo>
                  <a:pt x="0" y="0"/>
                </a:lnTo>
                <a:lnTo>
                  <a:pt x="0" y="822960"/>
                </a:lnTo>
                <a:lnTo>
                  <a:pt x="9144000" y="822960"/>
                </a:lnTo>
                <a:lnTo>
                  <a:pt x="9144000" y="0"/>
                </a:lnTo>
                <a:close/>
              </a:path>
            </a:pathLst>
          </a:custGeom>
          <a:solidFill>
            <a:srgbClr val="0F20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822960"/>
          </a:xfrm>
          <a:custGeom>
            <a:avLst/>
            <a:gdLst/>
            <a:ahLst/>
            <a:cxnLst/>
            <a:rect l="l" t="t" r="r" b="b"/>
            <a:pathLst>
              <a:path w="9144000" h="822960">
                <a:moveTo>
                  <a:pt x="0" y="0"/>
                </a:moveTo>
                <a:lnTo>
                  <a:pt x="9144000" y="0"/>
                </a:lnTo>
                <a:lnTo>
                  <a:pt x="9144000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F20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822960"/>
            <a:ext cx="9144000" cy="55244"/>
          </a:xfrm>
          <a:custGeom>
            <a:avLst/>
            <a:gdLst/>
            <a:ahLst/>
            <a:cxnLst/>
            <a:rect l="l" t="t" r="r" b="b"/>
            <a:pathLst>
              <a:path w="9144000" h="55244">
                <a:moveTo>
                  <a:pt x="9144000" y="0"/>
                </a:moveTo>
                <a:lnTo>
                  <a:pt x="0" y="0"/>
                </a:lnTo>
                <a:lnTo>
                  <a:pt x="0" y="54863"/>
                </a:lnTo>
                <a:lnTo>
                  <a:pt x="9144000" y="54863"/>
                </a:lnTo>
                <a:lnTo>
                  <a:pt x="9144000" y="0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822960"/>
            <a:ext cx="9144000" cy="55244"/>
          </a:xfrm>
          <a:custGeom>
            <a:avLst/>
            <a:gdLst/>
            <a:ahLst/>
            <a:cxnLst/>
            <a:rect l="l" t="t" r="r" b="b"/>
            <a:pathLst>
              <a:path w="9144000" h="55244">
                <a:moveTo>
                  <a:pt x="0" y="0"/>
                </a:moveTo>
                <a:lnTo>
                  <a:pt x="9144000" y="0"/>
                </a:lnTo>
                <a:lnTo>
                  <a:pt x="9144000" y="54864"/>
                </a:lnTo>
                <a:lnTo>
                  <a:pt x="0" y="54864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D94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89791"/>
            <a:ext cx="3120390" cy="514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3440" y="1051560"/>
            <a:ext cx="3840479" cy="141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55541" y="4946605"/>
            <a:ext cx="183324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4A3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3" name="object 3" descr=""/>
            <p:cNvSpPr/>
            <p:nvPr/>
          </p:nvSpPr>
          <p:spPr>
            <a:xfrm>
              <a:off x="109727" y="54864"/>
              <a:ext cx="9034780" cy="5034280"/>
            </a:xfrm>
            <a:custGeom>
              <a:avLst/>
              <a:gdLst/>
              <a:ahLst/>
              <a:cxnLst/>
              <a:rect l="l" t="t" r="r" b="b"/>
              <a:pathLst>
                <a:path w="9034780" h="5034280">
                  <a:moveTo>
                    <a:pt x="0" y="5033771"/>
                  </a:moveTo>
                  <a:lnTo>
                    <a:pt x="9034272" y="5033771"/>
                  </a:lnTo>
                  <a:lnTo>
                    <a:pt x="9034272" y="0"/>
                  </a:lnTo>
                  <a:lnTo>
                    <a:pt x="0" y="0"/>
                  </a:lnTo>
                  <a:lnTo>
                    <a:pt x="0" y="5033771"/>
                  </a:lnTo>
                  <a:close/>
                </a:path>
              </a:pathLst>
            </a:custGeom>
            <a:solidFill>
              <a:srgbClr val="0F2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109855" cy="5143500"/>
            </a:xfrm>
            <a:custGeom>
              <a:avLst/>
              <a:gdLst/>
              <a:ahLst/>
              <a:cxnLst/>
              <a:rect l="l" t="t" r="r" b="b"/>
              <a:pathLst>
                <a:path w="109855" h="5143500">
                  <a:moveTo>
                    <a:pt x="109727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09727" y="5143500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109855" cy="5143500"/>
            </a:xfrm>
            <a:custGeom>
              <a:avLst/>
              <a:gdLst/>
              <a:ahLst/>
              <a:cxnLst/>
              <a:rect l="l" t="t" r="r" b="b"/>
              <a:pathLst>
                <a:path w="109855" h="5143500">
                  <a:moveTo>
                    <a:pt x="0" y="0"/>
                  </a:moveTo>
                  <a:lnTo>
                    <a:pt x="109727" y="0"/>
                  </a:lnTo>
                  <a:lnTo>
                    <a:pt x="109727" y="5143500"/>
                  </a:lnTo>
                  <a:lnTo>
                    <a:pt x="0" y="514350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9728" y="0"/>
              <a:ext cx="9034780" cy="55244"/>
            </a:xfrm>
            <a:custGeom>
              <a:avLst/>
              <a:gdLst/>
              <a:ahLst/>
              <a:cxnLst/>
              <a:rect l="l" t="t" r="r" b="b"/>
              <a:pathLst>
                <a:path w="9034780" h="55244">
                  <a:moveTo>
                    <a:pt x="9034272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9034272" y="54863"/>
                  </a:lnTo>
                  <a:lnTo>
                    <a:pt x="9034272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9728" y="0"/>
              <a:ext cx="9034780" cy="55244"/>
            </a:xfrm>
            <a:custGeom>
              <a:avLst/>
              <a:gdLst/>
              <a:ahLst/>
              <a:cxnLst/>
              <a:rect l="l" t="t" r="r" b="b"/>
              <a:pathLst>
                <a:path w="9034780" h="55244">
                  <a:moveTo>
                    <a:pt x="0" y="0"/>
                  </a:moveTo>
                  <a:lnTo>
                    <a:pt x="9034272" y="0"/>
                  </a:lnTo>
                  <a:lnTo>
                    <a:pt x="9034272" y="54864"/>
                  </a:lnTo>
                  <a:lnTo>
                    <a:pt x="0" y="5486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9728" y="5088635"/>
              <a:ext cx="9034780" cy="55244"/>
            </a:xfrm>
            <a:custGeom>
              <a:avLst/>
              <a:gdLst/>
              <a:ahLst/>
              <a:cxnLst/>
              <a:rect l="l" t="t" r="r" b="b"/>
              <a:pathLst>
                <a:path w="9034780" h="55245">
                  <a:moveTo>
                    <a:pt x="9034272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9034272" y="54864"/>
                  </a:lnTo>
                  <a:lnTo>
                    <a:pt x="9034272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728" y="5088635"/>
              <a:ext cx="9034780" cy="55244"/>
            </a:xfrm>
            <a:custGeom>
              <a:avLst/>
              <a:gdLst/>
              <a:ahLst/>
              <a:cxnLst/>
              <a:rect l="l" t="t" r="r" b="b"/>
              <a:pathLst>
                <a:path w="9034780" h="55245">
                  <a:moveTo>
                    <a:pt x="0" y="0"/>
                  </a:moveTo>
                  <a:lnTo>
                    <a:pt x="9034272" y="0"/>
                  </a:lnTo>
                  <a:lnTo>
                    <a:pt x="9034272" y="54864"/>
                  </a:lnTo>
                  <a:lnTo>
                    <a:pt x="0" y="5486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58000" y="274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4939" y="4184"/>
                  </a:lnTo>
                  <a:lnTo>
                    <a:pt x="142577" y="16738"/>
                  </a:lnTo>
                  <a:lnTo>
                    <a:pt x="102816" y="37662"/>
                  </a:lnTo>
                  <a:lnTo>
                    <a:pt x="66955" y="66955"/>
                  </a:lnTo>
                  <a:lnTo>
                    <a:pt x="37662" y="102816"/>
                  </a:lnTo>
                  <a:lnTo>
                    <a:pt x="16738" y="142577"/>
                  </a:lnTo>
                  <a:lnTo>
                    <a:pt x="4184" y="184939"/>
                  </a:lnTo>
                  <a:lnTo>
                    <a:pt x="0" y="228600"/>
                  </a:lnTo>
                  <a:lnTo>
                    <a:pt x="4184" y="272261"/>
                  </a:lnTo>
                  <a:lnTo>
                    <a:pt x="16738" y="314622"/>
                  </a:lnTo>
                  <a:lnTo>
                    <a:pt x="37662" y="354383"/>
                  </a:lnTo>
                  <a:lnTo>
                    <a:pt x="66955" y="390244"/>
                  </a:lnTo>
                  <a:lnTo>
                    <a:pt x="102816" y="419537"/>
                  </a:lnTo>
                  <a:lnTo>
                    <a:pt x="142577" y="440461"/>
                  </a:lnTo>
                  <a:lnTo>
                    <a:pt x="184939" y="453015"/>
                  </a:lnTo>
                  <a:lnTo>
                    <a:pt x="228600" y="457200"/>
                  </a:lnTo>
                  <a:lnTo>
                    <a:pt x="272261" y="453015"/>
                  </a:lnTo>
                  <a:lnTo>
                    <a:pt x="314622" y="440461"/>
                  </a:lnTo>
                  <a:lnTo>
                    <a:pt x="354383" y="419537"/>
                  </a:lnTo>
                  <a:lnTo>
                    <a:pt x="390244" y="390244"/>
                  </a:lnTo>
                  <a:lnTo>
                    <a:pt x="419537" y="354383"/>
                  </a:lnTo>
                  <a:lnTo>
                    <a:pt x="440461" y="314622"/>
                  </a:lnTo>
                  <a:lnTo>
                    <a:pt x="453015" y="272261"/>
                  </a:lnTo>
                  <a:lnTo>
                    <a:pt x="457200" y="228600"/>
                  </a:lnTo>
                  <a:lnTo>
                    <a:pt x="453015" y="184939"/>
                  </a:lnTo>
                  <a:lnTo>
                    <a:pt x="440461" y="142577"/>
                  </a:lnTo>
                  <a:lnTo>
                    <a:pt x="419537" y="102816"/>
                  </a:lnTo>
                  <a:lnTo>
                    <a:pt x="390244" y="66955"/>
                  </a:lnTo>
                  <a:lnTo>
                    <a:pt x="354383" y="37662"/>
                  </a:lnTo>
                  <a:lnTo>
                    <a:pt x="314622" y="16738"/>
                  </a:lnTo>
                  <a:lnTo>
                    <a:pt x="272261" y="418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D9488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858000" y="2743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90244" y="66955"/>
                  </a:moveTo>
                  <a:lnTo>
                    <a:pt x="419537" y="102816"/>
                  </a:lnTo>
                  <a:lnTo>
                    <a:pt x="440461" y="142577"/>
                  </a:lnTo>
                  <a:lnTo>
                    <a:pt x="453015" y="184938"/>
                  </a:lnTo>
                  <a:lnTo>
                    <a:pt x="457200" y="228599"/>
                  </a:lnTo>
                  <a:lnTo>
                    <a:pt x="453015" y="272261"/>
                  </a:lnTo>
                  <a:lnTo>
                    <a:pt x="440461" y="314622"/>
                  </a:lnTo>
                  <a:lnTo>
                    <a:pt x="419537" y="354383"/>
                  </a:lnTo>
                  <a:lnTo>
                    <a:pt x="390244" y="390244"/>
                  </a:lnTo>
                  <a:lnTo>
                    <a:pt x="354383" y="419537"/>
                  </a:lnTo>
                  <a:lnTo>
                    <a:pt x="314622" y="440461"/>
                  </a:lnTo>
                  <a:lnTo>
                    <a:pt x="272261" y="453015"/>
                  </a:lnTo>
                  <a:lnTo>
                    <a:pt x="228599" y="457200"/>
                  </a:lnTo>
                  <a:lnTo>
                    <a:pt x="184938" y="453015"/>
                  </a:lnTo>
                  <a:lnTo>
                    <a:pt x="142577" y="440461"/>
                  </a:lnTo>
                  <a:lnTo>
                    <a:pt x="102816" y="419537"/>
                  </a:lnTo>
                  <a:lnTo>
                    <a:pt x="66955" y="390244"/>
                  </a:lnTo>
                  <a:lnTo>
                    <a:pt x="37662" y="354383"/>
                  </a:lnTo>
                  <a:lnTo>
                    <a:pt x="16738" y="314622"/>
                  </a:lnTo>
                  <a:lnTo>
                    <a:pt x="4184" y="272261"/>
                  </a:lnTo>
                  <a:lnTo>
                    <a:pt x="0" y="228599"/>
                  </a:lnTo>
                  <a:lnTo>
                    <a:pt x="4184" y="184938"/>
                  </a:lnTo>
                  <a:lnTo>
                    <a:pt x="16738" y="142577"/>
                  </a:lnTo>
                  <a:lnTo>
                    <a:pt x="37662" y="102816"/>
                  </a:lnTo>
                  <a:lnTo>
                    <a:pt x="66955" y="66955"/>
                  </a:lnTo>
                  <a:lnTo>
                    <a:pt x="102816" y="37662"/>
                  </a:lnTo>
                  <a:lnTo>
                    <a:pt x="142577" y="16738"/>
                  </a:lnTo>
                  <a:lnTo>
                    <a:pt x="184938" y="4184"/>
                  </a:lnTo>
                  <a:lnTo>
                    <a:pt x="228599" y="0"/>
                  </a:lnTo>
                  <a:lnTo>
                    <a:pt x="272261" y="4184"/>
                  </a:lnTo>
                  <a:lnTo>
                    <a:pt x="314622" y="16738"/>
                  </a:lnTo>
                  <a:lnTo>
                    <a:pt x="354383" y="37662"/>
                  </a:lnTo>
                  <a:lnTo>
                    <a:pt x="390244" y="66955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498080" y="274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4938" y="4184"/>
                  </a:lnTo>
                  <a:lnTo>
                    <a:pt x="142577" y="16738"/>
                  </a:lnTo>
                  <a:lnTo>
                    <a:pt x="102815" y="37662"/>
                  </a:lnTo>
                  <a:lnTo>
                    <a:pt x="66955" y="66955"/>
                  </a:lnTo>
                  <a:lnTo>
                    <a:pt x="37662" y="102816"/>
                  </a:lnTo>
                  <a:lnTo>
                    <a:pt x="16738" y="142577"/>
                  </a:lnTo>
                  <a:lnTo>
                    <a:pt x="4184" y="184939"/>
                  </a:lnTo>
                  <a:lnTo>
                    <a:pt x="0" y="228600"/>
                  </a:lnTo>
                  <a:lnTo>
                    <a:pt x="4184" y="272261"/>
                  </a:lnTo>
                  <a:lnTo>
                    <a:pt x="16738" y="314622"/>
                  </a:lnTo>
                  <a:lnTo>
                    <a:pt x="37662" y="354383"/>
                  </a:lnTo>
                  <a:lnTo>
                    <a:pt x="66955" y="390244"/>
                  </a:lnTo>
                  <a:lnTo>
                    <a:pt x="102815" y="419537"/>
                  </a:lnTo>
                  <a:lnTo>
                    <a:pt x="142577" y="440461"/>
                  </a:lnTo>
                  <a:lnTo>
                    <a:pt x="184938" y="453015"/>
                  </a:lnTo>
                  <a:lnTo>
                    <a:pt x="228599" y="457200"/>
                  </a:lnTo>
                  <a:lnTo>
                    <a:pt x="272260" y="453015"/>
                  </a:lnTo>
                  <a:lnTo>
                    <a:pt x="314621" y="440461"/>
                  </a:lnTo>
                  <a:lnTo>
                    <a:pt x="354382" y="419537"/>
                  </a:lnTo>
                  <a:lnTo>
                    <a:pt x="390243" y="390244"/>
                  </a:lnTo>
                  <a:lnTo>
                    <a:pt x="419536" y="354383"/>
                  </a:lnTo>
                  <a:lnTo>
                    <a:pt x="440460" y="314622"/>
                  </a:lnTo>
                  <a:lnTo>
                    <a:pt x="453014" y="272261"/>
                  </a:lnTo>
                  <a:lnTo>
                    <a:pt x="457199" y="228600"/>
                  </a:lnTo>
                  <a:lnTo>
                    <a:pt x="453014" y="184939"/>
                  </a:lnTo>
                  <a:lnTo>
                    <a:pt x="440460" y="142577"/>
                  </a:lnTo>
                  <a:lnTo>
                    <a:pt x="419536" y="102816"/>
                  </a:lnTo>
                  <a:lnTo>
                    <a:pt x="390243" y="66955"/>
                  </a:lnTo>
                  <a:lnTo>
                    <a:pt x="354382" y="37662"/>
                  </a:lnTo>
                  <a:lnTo>
                    <a:pt x="314621" y="16738"/>
                  </a:lnTo>
                  <a:lnTo>
                    <a:pt x="272260" y="4184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0D9488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498080" y="2743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90244" y="66955"/>
                  </a:moveTo>
                  <a:lnTo>
                    <a:pt x="419537" y="102816"/>
                  </a:lnTo>
                  <a:lnTo>
                    <a:pt x="440461" y="142577"/>
                  </a:lnTo>
                  <a:lnTo>
                    <a:pt x="453015" y="184938"/>
                  </a:lnTo>
                  <a:lnTo>
                    <a:pt x="457200" y="228599"/>
                  </a:lnTo>
                  <a:lnTo>
                    <a:pt x="453015" y="272261"/>
                  </a:lnTo>
                  <a:lnTo>
                    <a:pt x="440461" y="314622"/>
                  </a:lnTo>
                  <a:lnTo>
                    <a:pt x="419537" y="354383"/>
                  </a:lnTo>
                  <a:lnTo>
                    <a:pt x="390244" y="390244"/>
                  </a:lnTo>
                  <a:lnTo>
                    <a:pt x="354383" y="419537"/>
                  </a:lnTo>
                  <a:lnTo>
                    <a:pt x="314622" y="440461"/>
                  </a:lnTo>
                  <a:lnTo>
                    <a:pt x="272261" y="453015"/>
                  </a:lnTo>
                  <a:lnTo>
                    <a:pt x="228599" y="457200"/>
                  </a:lnTo>
                  <a:lnTo>
                    <a:pt x="184938" y="453015"/>
                  </a:lnTo>
                  <a:lnTo>
                    <a:pt x="142577" y="440461"/>
                  </a:lnTo>
                  <a:lnTo>
                    <a:pt x="102816" y="419537"/>
                  </a:lnTo>
                  <a:lnTo>
                    <a:pt x="66955" y="390244"/>
                  </a:lnTo>
                  <a:lnTo>
                    <a:pt x="37662" y="354383"/>
                  </a:lnTo>
                  <a:lnTo>
                    <a:pt x="16738" y="314622"/>
                  </a:lnTo>
                  <a:lnTo>
                    <a:pt x="4184" y="272261"/>
                  </a:lnTo>
                  <a:lnTo>
                    <a:pt x="0" y="228599"/>
                  </a:lnTo>
                  <a:lnTo>
                    <a:pt x="4184" y="184938"/>
                  </a:lnTo>
                  <a:lnTo>
                    <a:pt x="16738" y="142577"/>
                  </a:lnTo>
                  <a:lnTo>
                    <a:pt x="37662" y="102816"/>
                  </a:lnTo>
                  <a:lnTo>
                    <a:pt x="66955" y="66955"/>
                  </a:lnTo>
                  <a:lnTo>
                    <a:pt x="102816" y="37662"/>
                  </a:lnTo>
                  <a:lnTo>
                    <a:pt x="142577" y="16738"/>
                  </a:lnTo>
                  <a:lnTo>
                    <a:pt x="184938" y="4184"/>
                  </a:lnTo>
                  <a:lnTo>
                    <a:pt x="228599" y="0"/>
                  </a:lnTo>
                  <a:lnTo>
                    <a:pt x="272261" y="4184"/>
                  </a:lnTo>
                  <a:lnTo>
                    <a:pt x="314622" y="16738"/>
                  </a:lnTo>
                  <a:lnTo>
                    <a:pt x="354383" y="37662"/>
                  </a:lnTo>
                  <a:lnTo>
                    <a:pt x="390244" y="66955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138159" y="2743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4939" y="4184"/>
                  </a:lnTo>
                  <a:lnTo>
                    <a:pt x="142577" y="16738"/>
                  </a:lnTo>
                  <a:lnTo>
                    <a:pt x="102816" y="37662"/>
                  </a:lnTo>
                  <a:lnTo>
                    <a:pt x="66955" y="66955"/>
                  </a:lnTo>
                  <a:lnTo>
                    <a:pt x="37662" y="102816"/>
                  </a:lnTo>
                  <a:lnTo>
                    <a:pt x="16738" y="142577"/>
                  </a:lnTo>
                  <a:lnTo>
                    <a:pt x="4184" y="184939"/>
                  </a:lnTo>
                  <a:lnTo>
                    <a:pt x="0" y="228600"/>
                  </a:lnTo>
                  <a:lnTo>
                    <a:pt x="4184" y="272261"/>
                  </a:lnTo>
                  <a:lnTo>
                    <a:pt x="16738" y="314622"/>
                  </a:lnTo>
                  <a:lnTo>
                    <a:pt x="37662" y="354383"/>
                  </a:lnTo>
                  <a:lnTo>
                    <a:pt x="66955" y="390244"/>
                  </a:lnTo>
                  <a:lnTo>
                    <a:pt x="102816" y="419537"/>
                  </a:lnTo>
                  <a:lnTo>
                    <a:pt x="142577" y="440461"/>
                  </a:lnTo>
                  <a:lnTo>
                    <a:pt x="184939" y="453015"/>
                  </a:lnTo>
                  <a:lnTo>
                    <a:pt x="228600" y="457200"/>
                  </a:lnTo>
                  <a:lnTo>
                    <a:pt x="272261" y="453015"/>
                  </a:lnTo>
                  <a:lnTo>
                    <a:pt x="314622" y="440461"/>
                  </a:lnTo>
                  <a:lnTo>
                    <a:pt x="354383" y="419537"/>
                  </a:lnTo>
                  <a:lnTo>
                    <a:pt x="390244" y="390244"/>
                  </a:lnTo>
                  <a:lnTo>
                    <a:pt x="419537" y="354383"/>
                  </a:lnTo>
                  <a:lnTo>
                    <a:pt x="440460" y="314622"/>
                  </a:lnTo>
                  <a:lnTo>
                    <a:pt x="453014" y="272261"/>
                  </a:lnTo>
                  <a:lnTo>
                    <a:pt x="457199" y="228600"/>
                  </a:lnTo>
                  <a:lnTo>
                    <a:pt x="453014" y="184939"/>
                  </a:lnTo>
                  <a:lnTo>
                    <a:pt x="440460" y="142577"/>
                  </a:lnTo>
                  <a:lnTo>
                    <a:pt x="419537" y="102816"/>
                  </a:lnTo>
                  <a:lnTo>
                    <a:pt x="390244" y="66955"/>
                  </a:lnTo>
                  <a:lnTo>
                    <a:pt x="354383" y="37662"/>
                  </a:lnTo>
                  <a:lnTo>
                    <a:pt x="314622" y="16738"/>
                  </a:lnTo>
                  <a:lnTo>
                    <a:pt x="272261" y="418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D9488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138159" y="2743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90244" y="66955"/>
                  </a:moveTo>
                  <a:lnTo>
                    <a:pt x="419537" y="102816"/>
                  </a:lnTo>
                  <a:lnTo>
                    <a:pt x="440461" y="142577"/>
                  </a:lnTo>
                  <a:lnTo>
                    <a:pt x="453015" y="184938"/>
                  </a:lnTo>
                  <a:lnTo>
                    <a:pt x="457200" y="228599"/>
                  </a:lnTo>
                  <a:lnTo>
                    <a:pt x="453015" y="272261"/>
                  </a:lnTo>
                  <a:lnTo>
                    <a:pt x="440461" y="314622"/>
                  </a:lnTo>
                  <a:lnTo>
                    <a:pt x="419537" y="354383"/>
                  </a:lnTo>
                  <a:lnTo>
                    <a:pt x="390244" y="390244"/>
                  </a:lnTo>
                  <a:lnTo>
                    <a:pt x="354383" y="419537"/>
                  </a:lnTo>
                  <a:lnTo>
                    <a:pt x="314622" y="440461"/>
                  </a:lnTo>
                  <a:lnTo>
                    <a:pt x="272261" y="453015"/>
                  </a:lnTo>
                  <a:lnTo>
                    <a:pt x="228599" y="457200"/>
                  </a:lnTo>
                  <a:lnTo>
                    <a:pt x="184938" y="453015"/>
                  </a:lnTo>
                  <a:lnTo>
                    <a:pt x="142577" y="440461"/>
                  </a:lnTo>
                  <a:lnTo>
                    <a:pt x="102816" y="419537"/>
                  </a:lnTo>
                  <a:lnTo>
                    <a:pt x="66955" y="390244"/>
                  </a:lnTo>
                  <a:lnTo>
                    <a:pt x="37662" y="354383"/>
                  </a:lnTo>
                  <a:lnTo>
                    <a:pt x="16738" y="314622"/>
                  </a:lnTo>
                  <a:lnTo>
                    <a:pt x="4184" y="272261"/>
                  </a:lnTo>
                  <a:lnTo>
                    <a:pt x="0" y="228599"/>
                  </a:lnTo>
                  <a:lnTo>
                    <a:pt x="4184" y="184938"/>
                  </a:lnTo>
                  <a:lnTo>
                    <a:pt x="16738" y="142577"/>
                  </a:lnTo>
                  <a:lnTo>
                    <a:pt x="37662" y="102816"/>
                  </a:lnTo>
                  <a:lnTo>
                    <a:pt x="66955" y="66955"/>
                  </a:lnTo>
                  <a:lnTo>
                    <a:pt x="102816" y="37662"/>
                  </a:lnTo>
                  <a:lnTo>
                    <a:pt x="142577" y="16738"/>
                  </a:lnTo>
                  <a:lnTo>
                    <a:pt x="184938" y="4184"/>
                  </a:lnTo>
                  <a:lnTo>
                    <a:pt x="228599" y="0"/>
                  </a:lnTo>
                  <a:lnTo>
                    <a:pt x="272261" y="4184"/>
                  </a:lnTo>
                  <a:lnTo>
                    <a:pt x="314622" y="16738"/>
                  </a:lnTo>
                  <a:lnTo>
                    <a:pt x="354383" y="37662"/>
                  </a:lnTo>
                  <a:lnTo>
                    <a:pt x="390244" y="66955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35940" y="620587"/>
            <a:ext cx="416941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300"/>
              </a:lnSpc>
              <a:spcBef>
                <a:spcPts val="100"/>
              </a:spcBef>
            </a:pPr>
            <a:r>
              <a:rPr dirty="0" sz="4200"/>
              <a:t>Superstore</a:t>
            </a:r>
            <a:r>
              <a:rPr dirty="0" sz="4200" spc="-160"/>
              <a:t> </a:t>
            </a:r>
            <a:r>
              <a:rPr dirty="0" sz="4200"/>
              <a:t>Sales</a:t>
            </a:r>
            <a:r>
              <a:rPr dirty="0" sz="4200" spc="-155"/>
              <a:t> </a:t>
            </a:r>
            <a:r>
              <a:rPr dirty="0" sz="4200" spc="-50"/>
              <a:t>&amp; </a:t>
            </a:r>
            <a:r>
              <a:rPr dirty="0" sz="4200">
                <a:solidFill>
                  <a:srgbClr val="5EEAD4"/>
                </a:solidFill>
              </a:rPr>
              <a:t>Profit</a:t>
            </a:r>
            <a:r>
              <a:rPr dirty="0" sz="4200" spc="-125">
                <a:solidFill>
                  <a:srgbClr val="5EEAD4"/>
                </a:solidFill>
              </a:rPr>
              <a:t> </a:t>
            </a:r>
            <a:r>
              <a:rPr dirty="0" sz="4200" spc="-10">
                <a:solidFill>
                  <a:srgbClr val="5EEAD4"/>
                </a:solidFill>
              </a:rPr>
              <a:t>Dashboard</a:t>
            </a:r>
            <a:endParaRPr sz="4200"/>
          </a:p>
        </p:txBody>
      </p:sp>
      <p:sp>
        <p:nvSpPr>
          <p:cNvPr id="17" name="object 17" descr=""/>
          <p:cNvSpPr txBox="1"/>
          <p:nvPr/>
        </p:nvSpPr>
        <p:spPr>
          <a:xfrm>
            <a:off x="535940" y="2359834"/>
            <a:ext cx="2948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94A3B8"/>
                </a:solidFill>
                <a:latin typeface="Calibri"/>
                <a:cs typeface="Calibri"/>
              </a:rPr>
              <a:t>Sales,</a:t>
            </a:r>
            <a:r>
              <a:rPr dirty="0" sz="1800" spc="-25" i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94A3B8"/>
                </a:solidFill>
                <a:latin typeface="Calibri"/>
                <a:cs typeface="Calibri"/>
              </a:rPr>
              <a:t>Profit</a:t>
            </a:r>
            <a:r>
              <a:rPr dirty="0" sz="1800" spc="-25" i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94A3B8"/>
                </a:solidFill>
                <a:latin typeface="Calibri"/>
                <a:cs typeface="Calibri"/>
              </a:rPr>
              <a:t>&amp;</a:t>
            </a:r>
            <a:r>
              <a:rPr dirty="0" sz="1800" spc="-25" i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94A3B8"/>
                </a:solidFill>
                <a:latin typeface="Calibri"/>
                <a:cs typeface="Calibri"/>
              </a:rPr>
              <a:t>Regional</a:t>
            </a:r>
            <a:r>
              <a:rPr dirty="0" sz="1800" spc="-25" i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800" spc="-10" i="1">
                <a:solidFill>
                  <a:srgbClr val="94A3B8"/>
                </a:solidFill>
                <a:latin typeface="Calibri"/>
                <a:cs typeface="Calibri"/>
              </a:rPr>
              <a:t>Insights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50850" y="2828289"/>
            <a:ext cx="4584700" cy="1384300"/>
            <a:chOff x="450850" y="2828289"/>
            <a:chExt cx="4584700" cy="1384300"/>
          </a:xfrm>
        </p:grpSpPr>
        <p:sp>
          <p:nvSpPr>
            <p:cNvPr id="19" name="object 19" descr=""/>
            <p:cNvSpPr/>
            <p:nvPr/>
          </p:nvSpPr>
          <p:spPr>
            <a:xfrm>
              <a:off x="457200" y="2834639"/>
              <a:ext cx="3200400" cy="36830"/>
            </a:xfrm>
            <a:custGeom>
              <a:avLst/>
              <a:gdLst/>
              <a:ahLst/>
              <a:cxnLst/>
              <a:rect l="l" t="t" r="r" b="b"/>
              <a:pathLst>
                <a:path w="3200400" h="36830">
                  <a:moveTo>
                    <a:pt x="32004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200400" y="36575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7200" y="2834639"/>
              <a:ext cx="3200400" cy="36830"/>
            </a:xfrm>
            <a:custGeom>
              <a:avLst/>
              <a:gdLst/>
              <a:ahLst/>
              <a:cxnLst/>
              <a:rect l="l" t="t" r="r" b="b"/>
              <a:pathLst>
                <a:path w="3200400" h="36830">
                  <a:moveTo>
                    <a:pt x="0" y="0"/>
                  </a:moveTo>
                  <a:lnTo>
                    <a:pt x="3200400" y="0"/>
                  </a:lnTo>
                  <a:lnTo>
                    <a:pt x="3200400" y="36576"/>
                  </a:lnTo>
                  <a:lnTo>
                    <a:pt x="0" y="3657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7200" y="3017520"/>
              <a:ext cx="4572000" cy="1188720"/>
            </a:xfrm>
            <a:custGeom>
              <a:avLst/>
              <a:gdLst/>
              <a:ahLst/>
              <a:cxnLst/>
              <a:rect l="l" t="t" r="r" b="b"/>
              <a:pathLst>
                <a:path w="4572000" h="1188720">
                  <a:moveTo>
                    <a:pt x="4572000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4572000" y="118872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57200" y="3017519"/>
              <a:ext cx="4572000" cy="1188720"/>
            </a:xfrm>
            <a:custGeom>
              <a:avLst/>
              <a:gdLst/>
              <a:ahLst/>
              <a:cxnLst/>
              <a:rect l="l" t="t" r="r" b="b"/>
              <a:pathLst>
                <a:path w="4572000" h="1188720">
                  <a:moveTo>
                    <a:pt x="0" y="0"/>
                  </a:moveTo>
                  <a:lnTo>
                    <a:pt x="4572000" y="0"/>
                  </a:lnTo>
                  <a:lnTo>
                    <a:pt x="4572000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79" y="3167841"/>
              <a:ext cx="4206240" cy="339437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640080" y="3167840"/>
            <a:ext cx="4206240" cy="339725"/>
          </a:xfrm>
          <a:prstGeom prst="rect">
            <a:avLst/>
          </a:prstGeom>
          <a:ln w="6350">
            <a:solidFill>
              <a:srgbClr val="5B9BD5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Sagar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NM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40080" y="3648455"/>
            <a:ext cx="4206240" cy="346075"/>
          </a:xfrm>
          <a:custGeom>
            <a:avLst/>
            <a:gdLst/>
            <a:ahLst/>
            <a:cxnLst/>
            <a:rect l="l" t="t" r="r" b="b"/>
            <a:pathLst>
              <a:path w="4206240" h="346075">
                <a:moveTo>
                  <a:pt x="4206240" y="0"/>
                </a:moveTo>
                <a:lnTo>
                  <a:pt x="0" y="0"/>
                </a:lnTo>
                <a:lnTo>
                  <a:pt x="0" y="345787"/>
                </a:lnTo>
                <a:lnTo>
                  <a:pt x="4206240" y="345787"/>
                </a:lnTo>
                <a:lnTo>
                  <a:pt x="4206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40080" y="3648455"/>
            <a:ext cx="4206240" cy="346075"/>
          </a:xfrm>
          <a:prstGeom prst="rect">
            <a:avLst/>
          </a:prstGeom>
          <a:ln w="12700">
            <a:solidFill>
              <a:srgbClr val="4472C4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 sz="1800" spc="-10">
                <a:latin typeface="Calibri"/>
                <a:cs typeface="Calibri"/>
              </a:rPr>
              <a:t>Elevate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Labs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Internship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Day</a:t>
            </a:r>
            <a:r>
              <a:rPr dirty="0" sz="1800" spc="-50">
                <a:latin typeface="Calibri"/>
                <a:cs typeface="Calibri"/>
              </a:rPr>
              <a:t> 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50850" y="4382770"/>
            <a:ext cx="2024380" cy="360680"/>
            <a:chOff x="450850" y="4382770"/>
            <a:chExt cx="2024380" cy="360680"/>
          </a:xfrm>
        </p:grpSpPr>
        <p:sp>
          <p:nvSpPr>
            <p:cNvPr id="28" name="object 28" descr=""/>
            <p:cNvSpPr/>
            <p:nvPr/>
          </p:nvSpPr>
          <p:spPr>
            <a:xfrm>
              <a:off x="457200" y="4389120"/>
              <a:ext cx="2011680" cy="347980"/>
            </a:xfrm>
            <a:custGeom>
              <a:avLst/>
              <a:gdLst/>
              <a:ahLst/>
              <a:cxnLst/>
              <a:rect l="l" t="t" r="r" b="b"/>
              <a:pathLst>
                <a:path w="2011680" h="347979">
                  <a:moveTo>
                    <a:pt x="1965960" y="0"/>
                  </a:moveTo>
                  <a:lnTo>
                    <a:pt x="45720" y="0"/>
                  </a:lnTo>
                  <a:lnTo>
                    <a:pt x="27923" y="3592"/>
                  </a:lnTo>
                  <a:lnTo>
                    <a:pt x="13391" y="13391"/>
                  </a:lnTo>
                  <a:lnTo>
                    <a:pt x="3592" y="27923"/>
                  </a:lnTo>
                  <a:lnTo>
                    <a:pt x="0" y="45720"/>
                  </a:lnTo>
                  <a:lnTo>
                    <a:pt x="0" y="301751"/>
                  </a:lnTo>
                  <a:lnTo>
                    <a:pt x="3592" y="319548"/>
                  </a:lnTo>
                  <a:lnTo>
                    <a:pt x="13391" y="334080"/>
                  </a:lnTo>
                  <a:lnTo>
                    <a:pt x="27923" y="343879"/>
                  </a:lnTo>
                  <a:lnTo>
                    <a:pt x="45720" y="347472"/>
                  </a:lnTo>
                  <a:lnTo>
                    <a:pt x="1965960" y="347472"/>
                  </a:lnTo>
                  <a:lnTo>
                    <a:pt x="1983756" y="343879"/>
                  </a:lnTo>
                  <a:lnTo>
                    <a:pt x="1998288" y="334080"/>
                  </a:lnTo>
                  <a:lnTo>
                    <a:pt x="2008087" y="319548"/>
                  </a:lnTo>
                  <a:lnTo>
                    <a:pt x="2011680" y="301751"/>
                  </a:lnTo>
                  <a:lnTo>
                    <a:pt x="2011680" y="45720"/>
                  </a:lnTo>
                  <a:lnTo>
                    <a:pt x="2008087" y="27923"/>
                  </a:lnTo>
                  <a:lnTo>
                    <a:pt x="1998288" y="13391"/>
                  </a:lnTo>
                  <a:lnTo>
                    <a:pt x="1983756" y="3592"/>
                  </a:lnTo>
                  <a:lnTo>
                    <a:pt x="196596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57200" y="4389120"/>
              <a:ext cx="2011680" cy="347980"/>
            </a:xfrm>
            <a:custGeom>
              <a:avLst/>
              <a:gdLst/>
              <a:ahLst/>
              <a:cxnLst/>
              <a:rect l="l" t="t" r="r" b="b"/>
              <a:pathLst>
                <a:path w="2011680" h="347979">
                  <a:moveTo>
                    <a:pt x="45720" y="0"/>
                  </a:moveTo>
                  <a:lnTo>
                    <a:pt x="1965960" y="0"/>
                  </a:lnTo>
                  <a:lnTo>
                    <a:pt x="1983756" y="3592"/>
                  </a:lnTo>
                  <a:lnTo>
                    <a:pt x="1998288" y="13391"/>
                  </a:lnTo>
                  <a:lnTo>
                    <a:pt x="2008087" y="27923"/>
                  </a:lnTo>
                  <a:lnTo>
                    <a:pt x="2011680" y="45720"/>
                  </a:lnTo>
                  <a:lnTo>
                    <a:pt x="2011680" y="301751"/>
                  </a:lnTo>
                  <a:lnTo>
                    <a:pt x="2008087" y="319548"/>
                  </a:lnTo>
                  <a:lnTo>
                    <a:pt x="1998288" y="334080"/>
                  </a:lnTo>
                  <a:lnTo>
                    <a:pt x="1983756" y="343879"/>
                  </a:lnTo>
                  <a:lnTo>
                    <a:pt x="1965960" y="347472"/>
                  </a:lnTo>
                  <a:lnTo>
                    <a:pt x="45720" y="347472"/>
                  </a:lnTo>
                  <a:lnTo>
                    <a:pt x="27923" y="343879"/>
                  </a:lnTo>
                  <a:lnTo>
                    <a:pt x="13391" y="334080"/>
                  </a:lnTo>
                  <a:lnTo>
                    <a:pt x="3592" y="319548"/>
                  </a:lnTo>
                  <a:lnTo>
                    <a:pt x="0" y="301751"/>
                  </a:lnTo>
                  <a:lnTo>
                    <a:pt x="0" y="45720"/>
                  </a:lnTo>
                  <a:lnTo>
                    <a:pt x="3592" y="27923"/>
                  </a:lnTo>
                  <a:lnTo>
                    <a:pt x="13391" y="13391"/>
                  </a:lnTo>
                  <a:lnTo>
                    <a:pt x="27923" y="3592"/>
                  </a:lnTo>
                  <a:lnTo>
                    <a:pt x="4572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65346" y="4438088"/>
            <a:ext cx="19958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783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dirty="0" sz="1200" spc="2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200" spc="2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Task </a:t>
            </a: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43024" y="1101905"/>
            <a:ext cx="4050029" cy="1489710"/>
            <a:chOff x="243024" y="1101905"/>
            <a:chExt cx="4050029" cy="14897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24" y="1101905"/>
              <a:ext cx="4050029" cy="148970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65760" y="1188719"/>
              <a:ext cx="3840479" cy="1280160"/>
            </a:xfrm>
            <a:custGeom>
              <a:avLst/>
              <a:gdLst/>
              <a:ahLst/>
              <a:cxnLst/>
              <a:rect l="l" t="t" r="r" b="b"/>
              <a:pathLst>
                <a:path w="3840479" h="1280160">
                  <a:moveTo>
                    <a:pt x="0" y="0"/>
                  </a:moveTo>
                  <a:lnTo>
                    <a:pt x="3840479" y="0"/>
                  </a:lnTo>
                  <a:lnTo>
                    <a:pt x="3840479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5760" y="118871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40" h="1280160">
                  <a:moveTo>
                    <a:pt x="91439" y="0"/>
                  </a:moveTo>
                  <a:lnTo>
                    <a:pt x="0" y="0"/>
                  </a:lnTo>
                  <a:lnTo>
                    <a:pt x="0" y="1280159"/>
                  </a:lnTo>
                  <a:lnTo>
                    <a:pt x="91439" y="128015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65760" y="118871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40" h="1280160">
                  <a:moveTo>
                    <a:pt x="0" y="0"/>
                  </a:moveTo>
                  <a:lnTo>
                    <a:pt x="91440" y="0"/>
                  </a:lnTo>
                  <a:lnTo>
                    <a:pt x="9144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57200" y="1188719"/>
            <a:ext cx="3749040" cy="12801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0D9488"/>
                </a:solidFill>
                <a:latin typeface="Calibri"/>
                <a:cs typeface="Calibri"/>
              </a:rPr>
              <a:t>01</a:t>
            </a:r>
            <a:endParaRPr sz="22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615"/>
              </a:spcBef>
            </a:pPr>
            <a:r>
              <a:rPr dirty="0" sz="1400" spc="-10" b="1">
                <a:solidFill>
                  <a:srgbClr val="1E293B"/>
                </a:solidFill>
                <a:latin typeface="Calibri"/>
                <a:cs typeface="Calibri"/>
              </a:rPr>
              <a:t>Interactive</a:t>
            </a:r>
            <a:r>
              <a:rPr dirty="0" sz="1400" spc="-3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E293B"/>
                </a:solidFill>
                <a:latin typeface="Calibri"/>
                <a:cs typeface="Calibri"/>
              </a:rPr>
              <a:t>Dashboard</a:t>
            </a:r>
            <a:endParaRPr sz="1400">
              <a:latin typeface="Calibri"/>
              <a:cs typeface="Calibri"/>
            </a:endParaRPr>
          </a:p>
          <a:p>
            <a:pPr marL="182245" marR="738505">
              <a:lnSpc>
                <a:spcPts val="1300"/>
              </a:lnSpc>
              <a:spcBef>
                <a:spcPts val="944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Design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an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interactive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dashboard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built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for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business stakeholders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449264" y="1101905"/>
            <a:ext cx="4050029" cy="1489710"/>
            <a:chOff x="4449264" y="1101905"/>
            <a:chExt cx="4050029" cy="148971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264" y="1101905"/>
              <a:ext cx="4050029" cy="148970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571999" y="1188719"/>
              <a:ext cx="3840479" cy="1280160"/>
            </a:xfrm>
            <a:custGeom>
              <a:avLst/>
              <a:gdLst/>
              <a:ahLst/>
              <a:cxnLst/>
              <a:rect l="l" t="t" r="r" b="b"/>
              <a:pathLst>
                <a:path w="3840479" h="1280160">
                  <a:moveTo>
                    <a:pt x="0" y="0"/>
                  </a:moveTo>
                  <a:lnTo>
                    <a:pt x="3840479" y="0"/>
                  </a:lnTo>
                  <a:lnTo>
                    <a:pt x="3840479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71999" y="118871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39" h="1280160">
                  <a:moveTo>
                    <a:pt x="91439" y="0"/>
                  </a:moveTo>
                  <a:lnTo>
                    <a:pt x="0" y="0"/>
                  </a:lnTo>
                  <a:lnTo>
                    <a:pt x="0" y="1280159"/>
                  </a:lnTo>
                  <a:lnTo>
                    <a:pt x="91439" y="128015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71999" y="118871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39" h="1280160">
                  <a:moveTo>
                    <a:pt x="0" y="0"/>
                  </a:moveTo>
                  <a:lnTo>
                    <a:pt x="91440" y="0"/>
                  </a:lnTo>
                  <a:lnTo>
                    <a:pt x="9144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663440" y="1188719"/>
            <a:ext cx="3749040" cy="12801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0D9488"/>
                </a:solidFill>
                <a:latin typeface="Calibri"/>
                <a:cs typeface="Calibri"/>
              </a:rPr>
              <a:t>02</a:t>
            </a:r>
            <a:endParaRPr sz="22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615"/>
              </a:spcBef>
            </a:pPr>
            <a:r>
              <a:rPr dirty="0" sz="1400" b="1">
                <a:solidFill>
                  <a:srgbClr val="1E293B"/>
                </a:solidFill>
                <a:latin typeface="Calibri"/>
                <a:cs typeface="Calibri"/>
              </a:rPr>
              <a:t>Sales</a:t>
            </a:r>
            <a:r>
              <a:rPr dirty="0" sz="14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E293B"/>
                </a:solidFill>
                <a:latin typeface="Calibri"/>
                <a:cs typeface="Calibri"/>
              </a:rPr>
              <a:t>&amp;</a:t>
            </a:r>
            <a:r>
              <a:rPr dirty="0" sz="14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E293B"/>
                </a:solidFill>
                <a:latin typeface="Calibri"/>
                <a:cs typeface="Calibri"/>
              </a:rPr>
              <a:t>Profit</a:t>
            </a:r>
            <a:r>
              <a:rPr dirty="0" sz="1400" spc="-2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E293B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82880" marR="454025">
              <a:lnSpc>
                <a:spcPts val="1300"/>
              </a:lnSpc>
              <a:spcBef>
                <a:spcPts val="944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Analyze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sales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and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profit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performance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across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categories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and</a:t>
            </a:r>
            <a:r>
              <a:rPr dirty="0" sz="11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regions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43024" y="2656385"/>
            <a:ext cx="4050029" cy="1489710"/>
            <a:chOff x="243024" y="2656385"/>
            <a:chExt cx="4050029" cy="148971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24" y="2656385"/>
              <a:ext cx="4050029" cy="148971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65760" y="2743199"/>
              <a:ext cx="3840479" cy="1280160"/>
            </a:xfrm>
            <a:custGeom>
              <a:avLst/>
              <a:gdLst/>
              <a:ahLst/>
              <a:cxnLst/>
              <a:rect l="l" t="t" r="r" b="b"/>
              <a:pathLst>
                <a:path w="3840479" h="1280160">
                  <a:moveTo>
                    <a:pt x="0" y="0"/>
                  </a:moveTo>
                  <a:lnTo>
                    <a:pt x="3840479" y="0"/>
                  </a:lnTo>
                  <a:lnTo>
                    <a:pt x="3840479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65760" y="274319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40" h="1280160">
                  <a:moveTo>
                    <a:pt x="91439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91439" y="128016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65760" y="274319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40" h="1280160">
                  <a:moveTo>
                    <a:pt x="0" y="0"/>
                  </a:moveTo>
                  <a:lnTo>
                    <a:pt x="91440" y="0"/>
                  </a:lnTo>
                  <a:lnTo>
                    <a:pt x="9144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57200" y="2743200"/>
            <a:ext cx="3749040" cy="12801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0D9488"/>
                </a:solidFill>
                <a:latin typeface="Calibri"/>
                <a:cs typeface="Calibri"/>
              </a:rPr>
              <a:t>03</a:t>
            </a:r>
            <a:endParaRPr sz="22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615"/>
              </a:spcBef>
            </a:pPr>
            <a:r>
              <a:rPr dirty="0" sz="1400" spc="-10" b="1">
                <a:solidFill>
                  <a:srgbClr val="1E293B"/>
                </a:solidFill>
                <a:latin typeface="Calibri"/>
                <a:cs typeface="Calibri"/>
              </a:rPr>
              <a:t>Trend</a:t>
            </a:r>
            <a:r>
              <a:rPr dirty="0" sz="1400" spc="-5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E293B"/>
                </a:solidFill>
                <a:latin typeface="Calibri"/>
                <a:cs typeface="Calibri"/>
              </a:rPr>
              <a:t>Identification</a:t>
            </a:r>
            <a:endParaRPr sz="14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1535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Identify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key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trends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and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patterns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hidden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within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the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449264" y="2656385"/>
            <a:ext cx="4050029" cy="1489710"/>
            <a:chOff x="4449264" y="2656385"/>
            <a:chExt cx="4050029" cy="1489710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264" y="2656385"/>
              <a:ext cx="4050029" cy="148971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571999" y="2743199"/>
              <a:ext cx="3840479" cy="1280160"/>
            </a:xfrm>
            <a:custGeom>
              <a:avLst/>
              <a:gdLst/>
              <a:ahLst/>
              <a:cxnLst/>
              <a:rect l="l" t="t" r="r" b="b"/>
              <a:pathLst>
                <a:path w="3840479" h="1280160">
                  <a:moveTo>
                    <a:pt x="0" y="0"/>
                  </a:moveTo>
                  <a:lnTo>
                    <a:pt x="3840479" y="0"/>
                  </a:lnTo>
                  <a:lnTo>
                    <a:pt x="3840479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71999" y="274319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39" h="1280160">
                  <a:moveTo>
                    <a:pt x="91439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91439" y="128016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571999" y="2743199"/>
              <a:ext cx="91440" cy="1280160"/>
            </a:xfrm>
            <a:custGeom>
              <a:avLst/>
              <a:gdLst/>
              <a:ahLst/>
              <a:cxnLst/>
              <a:rect l="l" t="t" r="r" b="b"/>
              <a:pathLst>
                <a:path w="91439" h="1280160">
                  <a:moveTo>
                    <a:pt x="0" y="0"/>
                  </a:moveTo>
                  <a:lnTo>
                    <a:pt x="91440" y="0"/>
                  </a:lnTo>
                  <a:lnTo>
                    <a:pt x="9144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63440" y="2743200"/>
            <a:ext cx="3749040" cy="12801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0D9488"/>
                </a:solidFill>
                <a:latin typeface="Calibri"/>
                <a:cs typeface="Calibri"/>
              </a:rPr>
              <a:t>04</a:t>
            </a:r>
            <a:endParaRPr sz="22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615"/>
              </a:spcBef>
            </a:pPr>
            <a:r>
              <a:rPr dirty="0" sz="1400" spc="-20" b="1">
                <a:solidFill>
                  <a:srgbClr val="1E293B"/>
                </a:solidFill>
                <a:latin typeface="Calibri"/>
                <a:cs typeface="Calibri"/>
              </a:rPr>
              <a:t>Data-</a:t>
            </a:r>
            <a:r>
              <a:rPr dirty="0" sz="1400" b="1">
                <a:solidFill>
                  <a:srgbClr val="1E293B"/>
                </a:solidFill>
                <a:latin typeface="Calibri"/>
                <a:cs typeface="Calibri"/>
              </a:rPr>
              <a:t>Driven</a:t>
            </a:r>
            <a:r>
              <a:rPr dirty="0" sz="1400" spc="-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E293B"/>
                </a:solidFill>
                <a:latin typeface="Calibri"/>
                <a:cs typeface="Calibri"/>
              </a:rPr>
              <a:t>Decisions</a:t>
            </a:r>
            <a:endParaRPr sz="1400">
              <a:latin typeface="Calibri"/>
              <a:cs typeface="Calibri"/>
            </a:endParaRPr>
          </a:p>
          <a:p>
            <a:pPr marL="182880" marR="460375">
              <a:lnSpc>
                <a:spcPts val="1300"/>
              </a:lnSpc>
              <a:spcBef>
                <a:spcPts val="944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Support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stakeholders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 in making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informed,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data-backed decisions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Tools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0"/>
              <a:t>Dataset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65759" y="1005840"/>
            <a:ext cx="2468880" cy="3566160"/>
          </a:xfrm>
          <a:custGeom>
            <a:avLst/>
            <a:gdLst/>
            <a:ahLst/>
            <a:cxnLst/>
            <a:rect l="l" t="t" r="r" b="b"/>
            <a:pathLst>
              <a:path w="2468880" h="3566160">
                <a:moveTo>
                  <a:pt x="2468880" y="0"/>
                </a:moveTo>
                <a:lnTo>
                  <a:pt x="0" y="0"/>
                </a:lnTo>
                <a:lnTo>
                  <a:pt x="0" y="3566158"/>
                </a:lnTo>
                <a:lnTo>
                  <a:pt x="2468880" y="3566158"/>
                </a:lnTo>
                <a:lnTo>
                  <a:pt x="2468880" y="0"/>
                </a:lnTo>
                <a:close/>
              </a:path>
            </a:pathLst>
          </a:custGeom>
          <a:solidFill>
            <a:srgbClr val="0F20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59409" y="999489"/>
            <a:ext cx="2481580" cy="3578860"/>
          </a:xfrm>
          <a:prstGeom prst="rect">
            <a:avLst/>
          </a:prstGeom>
          <a:ln w="3175">
            <a:solidFill>
              <a:srgbClr val="0F2044"/>
            </a:solidFill>
          </a:ln>
        </p:spPr>
        <p:txBody>
          <a:bodyPr wrap="square" lIns="0" tIns="134620" rIns="0" bIns="0" rtlCol="0" vert="horz">
            <a:spAutoFit/>
          </a:bodyPr>
          <a:lstStyle/>
          <a:p>
            <a:pPr marL="697865">
              <a:lnSpc>
                <a:spcPct val="100000"/>
              </a:lnSpc>
              <a:spcBef>
                <a:spcPts val="1060"/>
              </a:spcBef>
            </a:pPr>
            <a:r>
              <a:rPr dirty="0" sz="1300" spc="80" b="1">
                <a:solidFill>
                  <a:srgbClr val="5EEAD4"/>
                </a:solidFill>
                <a:latin typeface="Calibri"/>
                <a:cs typeface="Calibri"/>
              </a:rPr>
              <a:t>TO</a:t>
            </a:r>
            <a:r>
              <a:rPr dirty="0" sz="1300" spc="-95" b="1">
                <a:solidFill>
                  <a:srgbClr val="5EEAD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EEAD4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5EEAD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5EEAD4"/>
                </a:solidFill>
                <a:latin typeface="Calibri"/>
                <a:cs typeface="Calibri"/>
              </a:rPr>
              <a:t>L</a:t>
            </a:r>
            <a:r>
              <a:rPr dirty="0" sz="1300" spc="-95" b="1">
                <a:solidFill>
                  <a:srgbClr val="5EEAD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EEAD4"/>
                </a:solidFill>
                <a:latin typeface="Calibri"/>
                <a:cs typeface="Calibri"/>
              </a:rPr>
              <a:t>S</a:t>
            </a:r>
            <a:r>
              <a:rPr dirty="0" sz="1300" spc="409" b="1">
                <a:solidFill>
                  <a:srgbClr val="5EEAD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5EEAD4"/>
                </a:solidFill>
                <a:latin typeface="Calibri"/>
                <a:cs typeface="Calibri"/>
              </a:rPr>
              <a:t>U</a:t>
            </a:r>
            <a:r>
              <a:rPr dirty="0" sz="1300" spc="-95" b="1">
                <a:solidFill>
                  <a:srgbClr val="5EEAD4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5EEAD4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5EEAD4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5EEAD4"/>
                </a:solidFill>
                <a:latin typeface="Calibri"/>
                <a:cs typeface="Calibri"/>
              </a:rPr>
              <a:t>E</a:t>
            </a:r>
            <a:r>
              <a:rPr dirty="0" sz="1300" spc="-95" b="1">
                <a:solidFill>
                  <a:srgbClr val="5EEAD4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5EEAD4"/>
                </a:solidFill>
                <a:latin typeface="Calibri"/>
                <a:cs typeface="Calibri"/>
              </a:rPr>
              <a:t>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02919" y="1600200"/>
            <a:ext cx="2194560" cy="822960"/>
            <a:chOff x="502919" y="1600200"/>
            <a:chExt cx="2194560" cy="822960"/>
          </a:xfrm>
        </p:grpSpPr>
        <p:sp>
          <p:nvSpPr>
            <p:cNvPr id="6" name="object 6" descr=""/>
            <p:cNvSpPr/>
            <p:nvPr/>
          </p:nvSpPr>
          <p:spPr>
            <a:xfrm>
              <a:off x="502919" y="1600200"/>
              <a:ext cx="2194560" cy="822960"/>
            </a:xfrm>
            <a:custGeom>
              <a:avLst/>
              <a:gdLst/>
              <a:ahLst/>
              <a:cxnLst/>
              <a:rect l="l" t="t" r="r" b="b"/>
              <a:pathLst>
                <a:path w="2194560" h="822960">
                  <a:moveTo>
                    <a:pt x="219456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2194560" y="822960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FFFFFF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94359" y="1633046"/>
              <a:ext cx="2011680" cy="346075"/>
            </a:xfrm>
            <a:custGeom>
              <a:avLst/>
              <a:gdLst/>
              <a:ahLst/>
              <a:cxnLst/>
              <a:rect l="l" t="t" r="r" b="b"/>
              <a:pathLst>
                <a:path w="2011680" h="346075">
                  <a:moveTo>
                    <a:pt x="2011679" y="0"/>
                  </a:moveTo>
                  <a:lnTo>
                    <a:pt x="0" y="0"/>
                  </a:lnTo>
                  <a:lnTo>
                    <a:pt x="0" y="345787"/>
                  </a:lnTo>
                  <a:lnTo>
                    <a:pt x="2011679" y="345787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94359" y="1633046"/>
              <a:ext cx="2011680" cy="346075"/>
            </a:xfrm>
            <a:custGeom>
              <a:avLst/>
              <a:gdLst/>
              <a:ahLst/>
              <a:cxnLst/>
              <a:rect l="l" t="t" r="r" b="b"/>
              <a:pathLst>
                <a:path w="2011680" h="346075">
                  <a:moveTo>
                    <a:pt x="0" y="0"/>
                  </a:moveTo>
                  <a:lnTo>
                    <a:pt x="2011680" y="0"/>
                  </a:lnTo>
                  <a:lnTo>
                    <a:pt x="2011680" y="345787"/>
                  </a:lnTo>
                  <a:lnTo>
                    <a:pt x="0" y="3457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D5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94359" y="2019475"/>
              <a:ext cx="2011680" cy="238760"/>
            </a:xfrm>
            <a:custGeom>
              <a:avLst/>
              <a:gdLst/>
              <a:ahLst/>
              <a:cxnLst/>
              <a:rect l="l" t="t" r="r" b="b"/>
              <a:pathLst>
                <a:path w="2011680" h="238760">
                  <a:moveTo>
                    <a:pt x="2011679" y="0"/>
                  </a:moveTo>
                  <a:lnTo>
                    <a:pt x="0" y="0"/>
                  </a:lnTo>
                  <a:lnTo>
                    <a:pt x="0" y="238407"/>
                  </a:lnTo>
                  <a:lnTo>
                    <a:pt x="2011679" y="238407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4359" y="2019476"/>
              <a:ext cx="2011680" cy="238760"/>
            </a:xfrm>
            <a:custGeom>
              <a:avLst/>
              <a:gdLst/>
              <a:ahLst/>
              <a:cxnLst/>
              <a:rect l="l" t="t" r="r" b="b"/>
              <a:pathLst>
                <a:path w="2011680" h="238760">
                  <a:moveTo>
                    <a:pt x="0" y="0"/>
                  </a:moveTo>
                  <a:lnTo>
                    <a:pt x="2011680" y="0"/>
                  </a:lnTo>
                  <a:lnTo>
                    <a:pt x="2011680" y="238407"/>
                  </a:lnTo>
                  <a:lnTo>
                    <a:pt x="0" y="23840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02919" y="1600200"/>
            <a:ext cx="2194560" cy="822960"/>
          </a:xfrm>
          <a:prstGeom prst="rect">
            <a:avLst/>
          </a:prstGeom>
          <a:ln w="6350">
            <a:solidFill>
              <a:srgbClr val="0D9488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686435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dirty="0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endParaRPr sz="1800">
              <a:latin typeface="Calibri"/>
              <a:cs typeface="Calibri"/>
            </a:endParaRPr>
          </a:p>
          <a:p>
            <a:pPr marL="142875">
              <a:lnSpc>
                <a:spcPct val="100000"/>
              </a:lnSpc>
              <a:spcBef>
                <a:spcPts val="910"/>
              </a:spcBef>
            </a:pPr>
            <a:r>
              <a:rPr dirty="0" sz="1100">
                <a:latin typeface="Calibri"/>
                <a:cs typeface="Calibri"/>
              </a:rPr>
              <a:t>Dashboard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visualizations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02919" y="2606039"/>
            <a:ext cx="2194560" cy="822960"/>
            <a:chOff x="502919" y="2606039"/>
            <a:chExt cx="2194560" cy="822960"/>
          </a:xfrm>
        </p:grpSpPr>
        <p:sp>
          <p:nvSpPr>
            <p:cNvPr id="13" name="object 13" descr=""/>
            <p:cNvSpPr/>
            <p:nvPr/>
          </p:nvSpPr>
          <p:spPr>
            <a:xfrm>
              <a:off x="502919" y="2606039"/>
              <a:ext cx="2194560" cy="822960"/>
            </a:xfrm>
            <a:custGeom>
              <a:avLst/>
              <a:gdLst/>
              <a:ahLst/>
              <a:cxnLst/>
              <a:rect l="l" t="t" r="r" b="b"/>
              <a:pathLst>
                <a:path w="2194560" h="822960">
                  <a:moveTo>
                    <a:pt x="219456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2194560" y="822960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FFFFFF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94359" y="2638886"/>
              <a:ext cx="2011680" cy="346075"/>
            </a:xfrm>
            <a:custGeom>
              <a:avLst/>
              <a:gdLst/>
              <a:ahLst/>
              <a:cxnLst/>
              <a:rect l="l" t="t" r="r" b="b"/>
              <a:pathLst>
                <a:path w="2011680" h="346075">
                  <a:moveTo>
                    <a:pt x="2011679" y="0"/>
                  </a:moveTo>
                  <a:lnTo>
                    <a:pt x="0" y="0"/>
                  </a:lnTo>
                  <a:lnTo>
                    <a:pt x="0" y="345787"/>
                  </a:lnTo>
                  <a:lnTo>
                    <a:pt x="2011679" y="345787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94359" y="2638885"/>
              <a:ext cx="2011680" cy="346075"/>
            </a:xfrm>
            <a:custGeom>
              <a:avLst/>
              <a:gdLst/>
              <a:ahLst/>
              <a:cxnLst/>
              <a:rect l="l" t="t" r="r" b="b"/>
              <a:pathLst>
                <a:path w="2011680" h="346075">
                  <a:moveTo>
                    <a:pt x="0" y="0"/>
                  </a:moveTo>
                  <a:lnTo>
                    <a:pt x="2011680" y="0"/>
                  </a:lnTo>
                  <a:lnTo>
                    <a:pt x="2011680" y="345787"/>
                  </a:lnTo>
                  <a:lnTo>
                    <a:pt x="0" y="3457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D5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94359" y="3025753"/>
              <a:ext cx="2011680" cy="238760"/>
            </a:xfrm>
            <a:custGeom>
              <a:avLst/>
              <a:gdLst/>
              <a:ahLst/>
              <a:cxnLst/>
              <a:rect l="l" t="t" r="r" b="b"/>
              <a:pathLst>
                <a:path w="2011680" h="238760">
                  <a:moveTo>
                    <a:pt x="2011679" y="0"/>
                  </a:moveTo>
                  <a:lnTo>
                    <a:pt x="0" y="0"/>
                  </a:lnTo>
                  <a:lnTo>
                    <a:pt x="0" y="238407"/>
                  </a:lnTo>
                  <a:lnTo>
                    <a:pt x="2011679" y="238407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94359" y="3025753"/>
              <a:ext cx="2011680" cy="238760"/>
            </a:xfrm>
            <a:custGeom>
              <a:avLst/>
              <a:gdLst/>
              <a:ahLst/>
              <a:cxnLst/>
              <a:rect l="l" t="t" r="r" b="b"/>
              <a:pathLst>
                <a:path w="2011680" h="238760">
                  <a:moveTo>
                    <a:pt x="0" y="0"/>
                  </a:moveTo>
                  <a:lnTo>
                    <a:pt x="2011680" y="0"/>
                  </a:lnTo>
                  <a:lnTo>
                    <a:pt x="2011680" y="238407"/>
                  </a:lnTo>
                  <a:lnTo>
                    <a:pt x="0" y="23840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02919" y="2606039"/>
            <a:ext cx="2194560" cy="822960"/>
          </a:xfrm>
          <a:prstGeom prst="rect">
            <a:avLst/>
          </a:prstGeom>
          <a:ln w="6350">
            <a:solidFill>
              <a:srgbClr val="0D9488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dirty="0" sz="1100">
                <a:latin typeface="Calibri"/>
                <a:cs typeface="Calibri"/>
              </a:rPr>
              <a:t>Dataset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preparation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105785" y="1002664"/>
            <a:ext cx="2658110" cy="3572510"/>
            <a:chOff x="3105785" y="1002664"/>
            <a:chExt cx="2658110" cy="3572510"/>
          </a:xfrm>
        </p:grpSpPr>
        <p:sp>
          <p:nvSpPr>
            <p:cNvPr id="20" name="object 20" descr=""/>
            <p:cNvSpPr/>
            <p:nvPr/>
          </p:nvSpPr>
          <p:spPr>
            <a:xfrm>
              <a:off x="3108960" y="1417319"/>
              <a:ext cx="2651760" cy="3154680"/>
            </a:xfrm>
            <a:custGeom>
              <a:avLst/>
              <a:gdLst/>
              <a:ahLst/>
              <a:cxnLst/>
              <a:rect l="l" t="t" r="r" b="b"/>
              <a:pathLst>
                <a:path w="2651760" h="3154679">
                  <a:moveTo>
                    <a:pt x="0" y="3154678"/>
                  </a:moveTo>
                  <a:lnTo>
                    <a:pt x="2651760" y="3154678"/>
                  </a:lnTo>
                  <a:lnTo>
                    <a:pt x="2651760" y="0"/>
                  </a:lnTo>
                  <a:lnTo>
                    <a:pt x="0" y="0"/>
                  </a:lnTo>
                  <a:lnTo>
                    <a:pt x="0" y="31546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108960" y="1005839"/>
              <a:ext cx="2651760" cy="3566160"/>
            </a:xfrm>
            <a:custGeom>
              <a:avLst/>
              <a:gdLst/>
              <a:ahLst/>
              <a:cxnLst/>
              <a:rect l="l" t="t" r="r" b="b"/>
              <a:pathLst>
                <a:path w="2651760" h="3566160">
                  <a:moveTo>
                    <a:pt x="0" y="0"/>
                  </a:moveTo>
                  <a:lnTo>
                    <a:pt x="2651760" y="0"/>
                  </a:lnTo>
                  <a:lnTo>
                    <a:pt x="2651760" y="3566158"/>
                  </a:lnTo>
                  <a:lnTo>
                    <a:pt x="0" y="3566158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108960" y="1005839"/>
            <a:ext cx="265176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dirty="0" sz="1300" spc="85" b="1">
                <a:solidFill>
                  <a:srgbClr val="1E293B"/>
                </a:solidFill>
                <a:latin typeface="Calibri"/>
                <a:cs typeface="Calibri"/>
              </a:rPr>
              <a:t>DATA</a:t>
            </a:r>
            <a:r>
              <a:rPr dirty="0" sz="1300" spc="-9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293B"/>
                </a:solidFill>
                <a:latin typeface="Calibri"/>
                <a:cs typeface="Calibri"/>
              </a:rPr>
              <a:t>S</a:t>
            </a:r>
            <a:r>
              <a:rPr dirty="0" sz="1300" spc="-90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93B"/>
                </a:solidFill>
                <a:latin typeface="Calibri"/>
                <a:cs typeface="Calibri"/>
              </a:rPr>
              <a:t>E</a:t>
            </a:r>
            <a:r>
              <a:rPr dirty="0" sz="1300" spc="-9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1E293B"/>
                </a:solidFill>
                <a:latin typeface="Calibri"/>
                <a:cs typeface="Calibri"/>
              </a:rPr>
              <a:t>T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9770" y="1959610"/>
            <a:ext cx="177292" cy="177292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3337559" y="1546801"/>
            <a:ext cx="1704975" cy="594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D9488"/>
                </a:solidFill>
                <a:latin typeface="Calibri"/>
                <a:cs typeface="Calibri"/>
              </a:rPr>
              <a:t>Superstore</a:t>
            </a:r>
            <a:r>
              <a:rPr dirty="0" sz="1300" spc="-15" b="1">
                <a:solidFill>
                  <a:srgbClr val="0D9488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9488"/>
                </a:solidFill>
                <a:latin typeface="Calibri"/>
                <a:cs typeface="Calibri"/>
              </a:rPr>
              <a:t>Sales</a:t>
            </a:r>
            <a:r>
              <a:rPr dirty="0" sz="1300" spc="-10" b="1">
                <a:solidFill>
                  <a:srgbClr val="0D9488"/>
                </a:solidFill>
                <a:latin typeface="Calibri"/>
                <a:cs typeface="Calibri"/>
              </a:rPr>
              <a:t> Dataset</a:t>
            </a:r>
            <a:endParaRPr sz="1300">
              <a:latin typeface="Calibri"/>
              <a:cs typeface="Calibri"/>
            </a:endParaRPr>
          </a:p>
          <a:p>
            <a:pPr marL="273685">
              <a:lnSpc>
                <a:spcPct val="100000"/>
              </a:lnSpc>
              <a:spcBef>
                <a:spcPts val="1475"/>
              </a:spcBef>
            </a:pPr>
            <a:r>
              <a:rPr dirty="0" sz="1200" spc="-10">
                <a:solidFill>
                  <a:srgbClr val="1E293B"/>
                </a:solidFill>
                <a:latin typeface="Calibri"/>
                <a:cs typeface="Calibri"/>
              </a:rPr>
              <a:t>Sales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239770" y="2398522"/>
            <a:ext cx="177800" cy="1494155"/>
            <a:chOff x="3239770" y="2398522"/>
            <a:chExt cx="177800" cy="1494155"/>
          </a:xfrm>
        </p:grpSpPr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9770" y="2398522"/>
              <a:ext cx="177292" cy="17729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9770" y="2837434"/>
              <a:ext cx="177292" cy="17729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9770" y="3276346"/>
              <a:ext cx="177292" cy="17729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9770" y="3715258"/>
              <a:ext cx="177292" cy="177292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3611879" y="2371544"/>
            <a:ext cx="355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E293B"/>
                </a:solidFill>
                <a:latin typeface="Calibri"/>
                <a:cs typeface="Calibri"/>
              </a:rPr>
              <a:t>Profit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611879" y="2810456"/>
            <a:ext cx="565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E293B"/>
                </a:solidFill>
                <a:latin typeface="Calibri"/>
                <a:cs typeface="Calibri"/>
              </a:rPr>
              <a:t>Category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611879" y="3249368"/>
            <a:ext cx="436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E293B"/>
                </a:solidFill>
                <a:latin typeface="Calibri"/>
                <a:cs typeface="Calibri"/>
              </a:rPr>
              <a:t>Region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611879" y="3688280"/>
            <a:ext cx="699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E293B"/>
                </a:solidFill>
                <a:latin typeface="Calibri"/>
                <a:cs typeface="Calibri"/>
              </a:rPr>
              <a:t>Order</a:t>
            </a:r>
            <a:r>
              <a:rPr dirty="0" sz="12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E293B"/>
                </a:solidFill>
                <a:latin typeface="Calibri"/>
                <a:cs typeface="Calibri"/>
              </a:rPr>
              <a:t>Date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031865" y="1002664"/>
            <a:ext cx="2749550" cy="3572510"/>
            <a:chOff x="6031865" y="1002664"/>
            <a:chExt cx="2749550" cy="3572510"/>
          </a:xfrm>
        </p:grpSpPr>
        <p:sp>
          <p:nvSpPr>
            <p:cNvPr id="35" name="object 35" descr=""/>
            <p:cNvSpPr/>
            <p:nvPr/>
          </p:nvSpPr>
          <p:spPr>
            <a:xfrm>
              <a:off x="6035040" y="1417319"/>
              <a:ext cx="2743200" cy="3154680"/>
            </a:xfrm>
            <a:custGeom>
              <a:avLst/>
              <a:gdLst/>
              <a:ahLst/>
              <a:cxnLst/>
              <a:rect l="l" t="t" r="r" b="b"/>
              <a:pathLst>
                <a:path w="2743200" h="3154679">
                  <a:moveTo>
                    <a:pt x="0" y="3154678"/>
                  </a:moveTo>
                  <a:lnTo>
                    <a:pt x="2743200" y="315467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1546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035040" y="1005839"/>
              <a:ext cx="2743200" cy="3566160"/>
            </a:xfrm>
            <a:custGeom>
              <a:avLst/>
              <a:gdLst/>
              <a:ahLst/>
              <a:cxnLst/>
              <a:rect l="l" t="t" r="r" b="b"/>
              <a:pathLst>
                <a:path w="2743200" h="3566160">
                  <a:moveTo>
                    <a:pt x="0" y="0"/>
                  </a:moveTo>
                  <a:lnTo>
                    <a:pt x="2743200" y="0"/>
                  </a:lnTo>
                  <a:lnTo>
                    <a:pt x="2743200" y="3566158"/>
                  </a:lnTo>
                  <a:lnTo>
                    <a:pt x="0" y="3566158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6035040" y="1005839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 wrap="square" lIns="0" tIns="97790" rIns="0" bIns="0" rtlCol="0" vert="horz">
            <a:spAutoFit/>
          </a:bodyPr>
          <a:lstStyle/>
          <a:p>
            <a:pPr marL="586740">
              <a:lnSpc>
                <a:spcPct val="100000"/>
              </a:lnSpc>
              <a:spcBef>
                <a:spcPts val="770"/>
              </a:spcBef>
            </a:pPr>
            <a:r>
              <a:rPr dirty="0" sz="1100" spc="75" b="1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dirty="0" sz="1100" spc="2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55" b="1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120129" y="1502410"/>
            <a:ext cx="86360" cy="2765425"/>
            <a:chOff x="6120129" y="1502410"/>
            <a:chExt cx="86360" cy="2765425"/>
          </a:xfrm>
        </p:grpSpPr>
        <p:sp>
          <p:nvSpPr>
            <p:cNvPr id="39" name="object 39" descr=""/>
            <p:cNvSpPr/>
            <p:nvPr/>
          </p:nvSpPr>
          <p:spPr>
            <a:xfrm>
              <a:off x="6126479" y="150875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73151" y="0"/>
                  </a:moveTo>
                  <a:lnTo>
                    <a:pt x="0" y="0"/>
                  </a:lnTo>
                  <a:lnTo>
                    <a:pt x="0" y="237742"/>
                  </a:lnTo>
                  <a:lnTo>
                    <a:pt x="73151" y="23774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126479" y="1508760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0" y="0"/>
                  </a:moveTo>
                  <a:lnTo>
                    <a:pt x="73152" y="0"/>
                  </a:lnTo>
                  <a:lnTo>
                    <a:pt x="73152" y="237742"/>
                  </a:lnTo>
                  <a:lnTo>
                    <a:pt x="0" y="23774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126479" y="201167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73151" y="0"/>
                  </a:moveTo>
                  <a:lnTo>
                    <a:pt x="0" y="0"/>
                  </a:lnTo>
                  <a:lnTo>
                    <a:pt x="0" y="237742"/>
                  </a:lnTo>
                  <a:lnTo>
                    <a:pt x="73151" y="23774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126479" y="2011680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0" y="0"/>
                  </a:moveTo>
                  <a:lnTo>
                    <a:pt x="73152" y="0"/>
                  </a:lnTo>
                  <a:lnTo>
                    <a:pt x="73152" y="237742"/>
                  </a:lnTo>
                  <a:lnTo>
                    <a:pt x="0" y="23774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126479" y="251459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73151" y="0"/>
                  </a:moveTo>
                  <a:lnTo>
                    <a:pt x="0" y="0"/>
                  </a:lnTo>
                  <a:lnTo>
                    <a:pt x="0" y="237742"/>
                  </a:lnTo>
                  <a:lnTo>
                    <a:pt x="73151" y="23774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126479" y="2514600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0" y="0"/>
                  </a:moveTo>
                  <a:lnTo>
                    <a:pt x="73152" y="0"/>
                  </a:lnTo>
                  <a:lnTo>
                    <a:pt x="73152" y="237742"/>
                  </a:lnTo>
                  <a:lnTo>
                    <a:pt x="0" y="23774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26479" y="301751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73151" y="0"/>
                  </a:moveTo>
                  <a:lnTo>
                    <a:pt x="0" y="0"/>
                  </a:lnTo>
                  <a:lnTo>
                    <a:pt x="0" y="237742"/>
                  </a:lnTo>
                  <a:lnTo>
                    <a:pt x="73151" y="23774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126479" y="3017520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0" y="0"/>
                  </a:moveTo>
                  <a:lnTo>
                    <a:pt x="73152" y="0"/>
                  </a:lnTo>
                  <a:lnTo>
                    <a:pt x="73152" y="237742"/>
                  </a:lnTo>
                  <a:lnTo>
                    <a:pt x="0" y="23774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126479" y="352043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73151" y="0"/>
                  </a:moveTo>
                  <a:lnTo>
                    <a:pt x="0" y="0"/>
                  </a:lnTo>
                  <a:lnTo>
                    <a:pt x="0" y="237742"/>
                  </a:lnTo>
                  <a:lnTo>
                    <a:pt x="73151" y="23774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126479" y="352043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0" y="0"/>
                  </a:moveTo>
                  <a:lnTo>
                    <a:pt x="73152" y="0"/>
                  </a:lnTo>
                  <a:lnTo>
                    <a:pt x="73152" y="237742"/>
                  </a:lnTo>
                  <a:lnTo>
                    <a:pt x="0" y="23774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126479" y="402335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73151" y="0"/>
                  </a:moveTo>
                  <a:lnTo>
                    <a:pt x="0" y="0"/>
                  </a:lnTo>
                  <a:lnTo>
                    <a:pt x="0" y="237742"/>
                  </a:lnTo>
                  <a:lnTo>
                    <a:pt x="73151" y="23774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126479" y="4023359"/>
              <a:ext cx="73660" cy="238125"/>
            </a:xfrm>
            <a:custGeom>
              <a:avLst/>
              <a:gdLst/>
              <a:ahLst/>
              <a:cxnLst/>
              <a:rect l="l" t="t" r="r" b="b"/>
              <a:pathLst>
                <a:path w="73660" h="238125">
                  <a:moveTo>
                    <a:pt x="0" y="0"/>
                  </a:moveTo>
                  <a:lnTo>
                    <a:pt x="73152" y="0"/>
                  </a:lnTo>
                  <a:lnTo>
                    <a:pt x="73152" y="237742"/>
                  </a:lnTo>
                  <a:lnTo>
                    <a:pt x="0" y="23774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6369811" y="1502868"/>
            <a:ext cx="178688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KPI</a:t>
            </a:r>
            <a:r>
              <a:rPr dirty="0" sz="11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Cards</a:t>
            </a:r>
            <a:r>
              <a:rPr dirty="0" sz="11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(Sales,</a:t>
            </a:r>
            <a:r>
              <a:rPr dirty="0" sz="11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Profit,</a:t>
            </a:r>
            <a:r>
              <a:rPr dirty="0" sz="11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E293B"/>
                </a:solidFill>
                <a:latin typeface="Calibri"/>
                <a:cs typeface="Calibri"/>
              </a:rPr>
              <a:t>Orders)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  <p:sp>
        <p:nvSpPr>
          <p:cNvPr id="52" name="object 52" descr=""/>
          <p:cNvSpPr txBox="1"/>
          <p:nvPr/>
        </p:nvSpPr>
        <p:spPr>
          <a:xfrm>
            <a:off x="6369811" y="2005788"/>
            <a:ext cx="14509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Region</a:t>
            </a:r>
            <a:r>
              <a:rPr dirty="0" sz="11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&amp;</a:t>
            </a:r>
            <a:r>
              <a:rPr dirty="0" sz="11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Category</a:t>
            </a:r>
            <a:r>
              <a:rPr dirty="0" sz="1100" spc="-3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E293B"/>
                </a:solidFill>
                <a:latin typeface="Calibri"/>
                <a:cs typeface="Calibri"/>
              </a:rPr>
              <a:t>Filters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6369811" y="2508708"/>
            <a:ext cx="15214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Monthly</a:t>
            </a:r>
            <a:r>
              <a:rPr dirty="0" sz="11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Sales</a:t>
            </a:r>
            <a:r>
              <a:rPr dirty="0" sz="1100" spc="-1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E293B"/>
                </a:solidFill>
                <a:latin typeface="Calibri"/>
                <a:cs typeface="Calibri"/>
              </a:rPr>
              <a:t>Trend</a:t>
            </a:r>
            <a:r>
              <a:rPr dirty="0" sz="1100" spc="-1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E293B"/>
                </a:solidFill>
                <a:latin typeface="Calibri"/>
                <a:cs typeface="Calibri"/>
              </a:rPr>
              <a:t>Chart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369811" y="3011628"/>
            <a:ext cx="13258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Sales</a:t>
            </a:r>
            <a:r>
              <a:rPr dirty="0" sz="11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by</a:t>
            </a:r>
            <a:r>
              <a:rPr dirty="0" sz="1100" spc="-2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Category</a:t>
            </a:r>
            <a:r>
              <a:rPr dirty="0" sz="1100" spc="-2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E293B"/>
                </a:solidFill>
                <a:latin typeface="Calibri"/>
                <a:cs typeface="Calibri"/>
              </a:rPr>
              <a:t>(Bar)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369811" y="3514548"/>
            <a:ext cx="12077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Sales</a:t>
            </a:r>
            <a:r>
              <a:rPr dirty="0" sz="11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by</a:t>
            </a:r>
            <a:r>
              <a:rPr dirty="0" sz="11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Region</a:t>
            </a:r>
            <a:r>
              <a:rPr dirty="0" sz="1100" spc="-15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E293B"/>
                </a:solidFill>
                <a:latin typeface="Calibri"/>
                <a:cs typeface="Calibri"/>
              </a:rPr>
              <a:t>(Bar)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369811" y="4017469"/>
            <a:ext cx="13525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Profit</a:t>
            </a:r>
            <a:r>
              <a:rPr dirty="0" sz="11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by</a:t>
            </a:r>
            <a:r>
              <a:rPr dirty="0" sz="11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E293B"/>
                </a:solidFill>
                <a:latin typeface="Calibri"/>
                <a:cs typeface="Calibri"/>
              </a:rPr>
              <a:t>Category</a:t>
            </a:r>
            <a:r>
              <a:rPr dirty="0" sz="1100" spc="-3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1E293B"/>
                </a:solidFill>
                <a:latin typeface="Calibri"/>
                <a:cs typeface="Calibri"/>
              </a:rPr>
              <a:t>(Bar)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F204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6350" y="-6350"/>
            <a:ext cx="9156700" cy="772160"/>
            <a:chOff x="-6350" y="-6350"/>
            <a:chExt cx="9156700" cy="77216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713740"/>
            </a:xfrm>
            <a:custGeom>
              <a:avLst/>
              <a:gdLst/>
              <a:ahLst/>
              <a:cxnLst/>
              <a:rect l="l" t="t" r="r" b="b"/>
              <a:pathLst>
                <a:path w="9144000" h="713740">
                  <a:moveTo>
                    <a:pt x="0" y="0"/>
                  </a:moveTo>
                  <a:lnTo>
                    <a:pt x="9144000" y="0"/>
                  </a:lnTo>
                  <a:lnTo>
                    <a:pt x="9144000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713231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13231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0" y="0"/>
                  </a:moveTo>
                  <a:lnTo>
                    <a:pt x="9144000" y="0"/>
                  </a:lnTo>
                  <a:lnTo>
                    <a:pt x="9144000" y="45720"/>
                  </a:lnTo>
                  <a:lnTo>
                    <a:pt x="0" y="4572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Dashboard</a:t>
            </a:r>
            <a:r>
              <a:rPr dirty="0" sz="2800" spc="-125"/>
              <a:t> </a:t>
            </a:r>
            <a:r>
              <a:rPr dirty="0" sz="2800" spc="-10"/>
              <a:t>Overview</a:t>
            </a:r>
            <a:endParaRPr sz="2800"/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868680"/>
            <a:ext cx="5486400" cy="397764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5986145" y="911225"/>
            <a:ext cx="2840990" cy="720090"/>
            <a:chOff x="5986145" y="911225"/>
            <a:chExt cx="2840990" cy="720090"/>
          </a:xfrm>
        </p:grpSpPr>
        <p:sp>
          <p:nvSpPr>
            <p:cNvPr id="10" name="object 10" descr=""/>
            <p:cNvSpPr/>
            <p:nvPr/>
          </p:nvSpPr>
          <p:spPr>
            <a:xfrm>
              <a:off x="5989320" y="914400"/>
              <a:ext cx="2834640" cy="713740"/>
            </a:xfrm>
            <a:custGeom>
              <a:avLst/>
              <a:gdLst/>
              <a:ahLst/>
              <a:cxnLst/>
              <a:rect l="l" t="t" r="r" b="b"/>
              <a:pathLst>
                <a:path w="2834640" h="713739">
                  <a:moveTo>
                    <a:pt x="2834639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2834639" y="713232"/>
                  </a:lnTo>
                  <a:lnTo>
                    <a:pt x="2834639" y="0"/>
                  </a:lnTo>
                  <a:close/>
                </a:path>
              </a:pathLst>
            </a:custGeom>
            <a:solidFill>
              <a:srgbClr val="FFFFFF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89320" y="914400"/>
              <a:ext cx="2834640" cy="713740"/>
            </a:xfrm>
            <a:custGeom>
              <a:avLst/>
              <a:gdLst/>
              <a:ahLst/>
              <a:cxnLst/>
              <a:rect l="l" t="t" r="r" b="b"/>
              <a:pathLst>
                <a:path w="2834640" h="713739">
                  <a:moveTo>
                    <a:pt x="0" y="0"/>
                  </a:moveTo>
                  <a:lnTo>
                    <a:pt x="2834640" y="0"/>
                  </a:lnTo>
                  <a:lnTo>
                    <a:pt x="2834640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200" y="915242"/>
              <a:ext cx="2651760" cy="346075"/>
            </a:xfrm>
            <a:custGeom>
              <a:avLst/>
              <a:gdLst/>
              <a:ahLst/>
              <a:cxnLst/>
              <a:rect l="l" t="t" r="r" b="b"/>
              <a:pathLst>
                <a:path w="2651759" h="346075">
                  <a:moveTo>
                    <a:pt x="2651759" y="0"/>
                  </a:moveTo>
                  <a:lnTo>
                    <a:pt x="0" y="0"/>
                  </a:lnTo>
                  <a:lnTo>
                    <a:pt x="0" y="345787"/>
                  </a:lnTo>
                  <a:lnTo>
                    <a:pt x="2651759" y="345787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172200" y="915242"/>
            <a:ext cx="2651760" cy="346075"/>
          </a:xfrm>
          <a:prstGeom prst="rect">
            <a:avLst/>
          </a:prstGeom>
          <a:ln w="12700">
            <a:solidFill>
              <a:srgbClr val="4472C4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60"/>
              </a:spcBef>
            </a:pPr>
            <a:r>
              <a:rPr dirty="0" sz="1800" spc="-10">
                <a:latin typeface="Calibri"/>
                <a:cs typeface="Calibri"/>
              </a:rPr>
              <a:t>2.30M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162675" y="1249460"/>
            <a:ext cx="2670810" cy="371475"/>
            <a:chOff x="6162675" y="1249460"/>
            <a:chExt cx="2670810" cy="371475"/>
          </a:xfrm>
        </p:grpSpPr>
        <p:sp>
          <p:nvSpPr>
            <p:cNvPr id="15" name="object 15" descr=""/>
            <p:cNvSpPr/>
            <p:nvPr/>
          </p:nvSpPr>
          <p:spPr>
            <a:xfrm>
              <a:off x="6172200" y="1258986"/>
              <a:ext cx="2651760" cy="352425"/>
            </a:xfrm>
            <a:custGeom>
              <a:avLst/>
              <a:gdLst/>
              <a:ahLst/>
              <a:cxnLst/>
              <a:rect l="l" t="t" r="r" b="b"/>
              <a:pathLst>
                <a:path w="2651759" h="352425">
                  <a:moveTo>
                    <a:pt x="2651759" y="0"/>
                  </a:moveTo>
                  <a:lnTo>
                    <a:pt x="0" y="0"/>
                  </a:lnTo>
                  <a:lnTo>
                    <a:pt x="0" y="352137"/>
                  </a:lnTo>
                  <a:lnTo>
                    <a:pt x="2651759" y="352137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172200" y="1258985"/>
              <a:ext cx="2651760" cy="352425"/>
            </a:xfrm>
            <a:custGeom>
              <a:avLst/>
              <a:gdLst/>
              <a:ahLst/>
              <a:cxnLst/>
              <a:rect l="l" t="t" r="r" b="b"/>
              <a:pathLst>
                <a:path w="2651759" h="352425">
                  <a:moveTo>
                    <a:pt x="0" y="0"/>
                  </a:moveTo>
                  <a:lnTo>
                    <a:pt x="2651760" y="0"/>
                  </a:lnTo>
                  <a:lnTo>
                    <a:pt x="2651760" y="352137"/>
                  </a:lnTo>
                  <a:lnTo>
                    <a:pt x="0" y="35213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172200" y="1257428"/>
            <a:ext cx="2648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986145" y="1779904"/>
            <a:ext cx="2840990" cy="720090"/>
            <a:chOff x="5986145" y="1779904"/>
            <a:chExt cx="2840990" cy="720090"/>
          </a:xfrm>
        </p:grpSpPr>
        <p:sp>
          <p:nvSpPr>
            <p:cNvPr id="19" name="object 19" descr=""/>
            <p:cNvSpPr/>
            <p:nvPr/>
          </p:nvSpPr>
          <p:spPr>
            <a:xfrm>
              <a:off x="5989320" y="1783079"/>
              <a:ext cx="2834640" cy="713740"/>
            </a:xfrm>
            <a:custGeom>
              <a:avLst/>
              <a:gdLst/>
              <a:ahLst/>
              <a:cxnLst/>
              <a:rect l="l" t="t" r="r" b="b"/>
              <a:pathLst>
                <a:path w="2834640" h="713739">
                  <a:moveTo>
                    <a:pt x="2834639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2834639" y="713232"/>
                  </a:lnTo>
                  <a:lnTo>
                    <a:pt x="2834639" y="0"/>
                  </a:lnTo>
                  <a:close/>
                </a:path>
              </a:pathLst>
            </a:custGeom>
            <a:solidFill>
              <a:srgbClr val="FFFFFF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989320" y="1783079"/>
              <a:ext cx="2834640" cy="713740"/>
            </a:xfrm>
            <a:custGeom>
              <a:avLst/>
              <a:gdLst/>
              <a:ahLst/>
              <a:cxnLst/>
              <a:rect l="l" t="t" r="r" b="b"/>
              <a:pathLst>
                <a:path w="2834640" h="713739">
                  <a:moveTo>
                    <a:pt x="0" y="0"/>
                  </a:moveTo>
                  <a:lnTo>
                    <a:pt x="2834640" y="0"/>
                  </a:lnTo>
                  <a:lnTo>
                    <a:pt x="2834640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172200" y="1783922"/>
              <a:ext cx="2651760" cy="346075"/>
            </a:xfrm>
            <a:custGeom>
              <a:avLst/>
              <a:gdLst/>
              <a:ahLst/>
              <a:cxnLst/>
              <a:rect l="l" t="t" r="r" b="b"/>
              <a:pathLst>
                <a:path w="2651759" h="346075">
                  <a:moveTo>
                    <a:pt x="2651759" y="0"/>
                  </a:moveTo>
                  <a:lnTo>
                    <a:pt x="0" y="0"/>
                  </a:lnTo>
                  <a:lnTo>
                    <a:pt x="0" y="345787"/>
                  </a:lnTo>
                  <a:lnTo>
                    <a:pt x="2651759" y="345787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172200" y="1783921"/>
            <a:ext cx="2651760" cy="346075"/>
          </a:xfrm>
          <a:prstGeom prst="rect">
            <a:avLst/>
          </a:prstGeom>
          <a:ln w="12700">
            <a:solidFill>
              <a:srgbClr val="4472C4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60"/>
              </a:spcBef>
            </a:pPr>
            <a:r>
              <a:rPr dirty="0" sz="1800" spc="-10">
                <a:latin typeface="Calibri"/>
                <a:cs typeface="Calibri"/>
              </a:rPr>
              <a:t>286.40K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162675" y="2128300"/>
            <a:ext cx="2670810" cy="371475"/>
            <a:chOff x="6162675" y="2128300"/>
            <a:chExt cx="2670810" cy="371475"/>
          </a:xfrm>
        </p:grpSpPr>
        <p:sp>
          <p:nvSpPr>
            <p:cNvPr id="24" name="object 24" descr=""/>
            <p:cNvSpPr/>
            <p:nvPr/>
          </p:nvSpPr>
          <p:spPr>
            <a:xfrm>
              <a:off x="6172200" y="2137824"/>
              <a:ext cx="2651760" cy="352425"/>
            </a:xfrm>
            <a:custGeom>
              <a:avLst/>
              <a:gdLst/>
              <a:ahLst/>
              <a:cxnLst/>
              <a:rect l="l" t="t" r="r" b="b"/>
              <a:pathLst>
                <a:path w="2651759" h="352425">
                  <a:moveTo>
                    <a:pt x="2651759" y="0"/>
                  </a:moveTo>
                  <a:lnTo>
                    <a:pt x="0" y="0"/>
                  </a:lnTo>
                  <a:lnTo>
                    <a:pt x="0" y="352137"/>
                  </a:lnTo>
                  <a:lnTo>
                    <a:pt x="2651759" y="352137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172200" y="2137825"/>
              <a:ext cx="2651760" cy="352425"/>
            </a:xfrm>
            <a:custGeom>
              <a:avLst/>
              <a:gdLst/>
              <a:ahLst/>
              <a:cxnLst/>
              <a:rect l="l" t="t" r="r" b="b"/>
              <a:pathLst>
                <a:path w="2651759" h="352425">
                  <a:moveTo>
                    <a:pt x="0" y="0"/>
                  </a:moveTo>
                  <a:lnTo>
                    <a:pt x="2651760" y="0"/>
                  </a:lnTo>
                  <a:lnTo>
                    <a:pt x="2651760" y="352137"/>
                  </a:lnTo>
                  <a:lnTo>
                    <a:pt x="0" y="35213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172200" y="2136267"/>
            <a:ext cx="2648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Profit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986145" y="2648585"/>
            <a:ext cx="2840990" cy="720090"/>
            <a:chOff x="5986145" y="2648585"/>
            <a:chExt cx="2840990" cy="720090"/>
          </a:xfrm>
        </p:grpSpPr>
        <p:sp>
          <p:nvSpPr>
            <p:cNvPr id="28" name="object 28" descr=""/>
            <p:cNvSpPr/>
            <p:nvPr/>
          </p:nvSpPr>
          <p:spPr>
            <a:xfrm>
              <a:off x="5989320" y="2651760"/>
              <a:ext cx="2834640" cy="713740"/>
            </a:xfrm>
            <a:custGeom>
              <a:avLst/>
              <a:gdLst/>
              <a:ahLst/>
              <a:cxnLst/>
              <a:rect l="l" t="t" r="r" b="b"/>
              <a:pathLst>
                <a:path w="2834640" h="713739">
                  <a:moveTo>
                    <a:pt x="2834639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2834639" y="713232"/>
                  </a:lnTo>
                  <a:lnTo>
                    <a:pt x="2834639" y="0"/>
                  </a:lnTo>
                  <a:close/>
                </a:path>
              </a:pathLst>
            </a:custGeom>
            <a:solidFill>
              <a:srgbClr val="FFFFFF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989320" y="2651760"/>
              <a:ext cx="2834640" cy="713740"/>
            </a:xfrm>
            <a:custGeom>
              <a:avLst/>
              <a:gdLst/>
              <a:ahLst/>
              <a:cxnLst/>
              <a:rect l="l" t="t" r="r" b="b"/>
              <a:pathLst>
                <a:path w="2834640" h="713739">
                  <a:moveTo>
                    <a:pt x="0" y="0"/>
                  </a:moveTo>
                  <a:lnTo>
                    <a:pt x="2834640" y="0"/>
                  </a:lnTo>
                  <a:lnTo>
                    <a:pt x="2834640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172200" y="2652602"/>
              <a:ext cx="2651760" cy="346075"/>
            </a:xfrm>
            <a:custGeom>
              <a:avLst/>
              <a:gdLst/>
              <a:ahLst/>
              <a:cxnLst/>
              <a:rect l="l" t="t" r="r" b="b"/>
              <a:pathLst>
                <a:path w="2651759" h="346075">
                  <a:moveTo>
                    <a:pt x="2651759" y="0"/>
                  </a:moveTo>
                  <a:lnTo>
                    <a:pt x="0" y="0"/>
                  </a:lnTo>
                  <a:lnTo>
                    <a:pt x="0" y="345787"/>
                  </a:lnTo>
                  <a:lnTo>
                    <a:pt x="2651759" y="345787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2200" y="2652602"/>
            <a:ext cx="2651760" cy="346075"/>
          </a:xfrm>
          <a:prstGeom prst="rect">
            <a:avLst/>
          </a:prstGeom>
          <a:ln w="12700">
            <a:solidFill>
              <a:srgbClr val="4472C4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60"/>
              </a:spcBef>
            </a:pPr>
            <a:r>
              <a:rPr dirty="0" sz="1800" spc="-10">
                <a:latin typeface="Calibri"/>
                <a:cs typeface="Calibri"/>
              </a:rPr>
              <a:t>9,994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162675" y="2996980"/>
            <a:ext cx="2670810" cy="371475"/>
            <a:chOff x="6162675" y="2996980"/>
            <a:chExt cx="2670810" cy="371475"/>
          </a:xfrm>
        </p:grpSpPr>
        <p:sp>
          <p:nvSpPr>
            <p:cNvPr id="33" name="object 33" descr=""/>
            <p:cNvSpPr/>
            <p:nvPr/>
          </p:nvSpPr>
          <p:spPr>
            <a:xfrm>
              <a:off x="6172200" y="3006504"/>
              <a:ext cx="2651760" cy="352425"/>
            </a:xfrm>
            <a:custGeom>
              <a:avLst/>
              <a:gdLst/>
              <a:ahLst/>
              <a:cxnLst/>
              <a:rect l="l" t="t" r="r" b="b"/>
              <a:pathLst>
                <a:path w="2651759" h="352425">
                  <a:moveTo>
                    <a:pt x="2651759" y="0"/>
                  </a:moveTo>
                  <a:lnTo>
                    <a:pt x="0" y="0"/>
                  </a:lnTo>
                  <a:lnTo>
                    <a:pt x="0" y="352137"/>
                  </a:lnTo>
                  <a:lnTo>
                    <a:pt x="2651759" y="352137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172200" y="3006505"/>
              <a:ext cx="2651760" cy="352425"/>
            </a:xfrm>
            <a:custGeom>
              <a:avLst/>
              <a:gdLst/>
              <a:ahLst/>
              <a:cxnLst/>
              <a:rect l="l" t="t" r="r" b="b"/>
              <a:pathLst>
                <a:path w="2651759" h="352425">
                  <a:moveTo>
                    <a:pt x="0" y="0"/>
                  </a:moveTo>
                  <a:lnTo>
                    <a:pt x="2651760" y="0"/>
                  </a:lnTo>
                  <a:lnTo>
                    <a:pt x="2651760" y="352137"/>
                  </a:lnTo>
                  <a:lnTo>
                    <a:pt x="0" y="35213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6172200" y="3004947"/>
            <a:ext cx="2648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2970" y="3605529"/>
            <a:ext cx="159004" cy="159004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2970" y="3989578"/>
            <a:ext cx="159004" cy="159004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2970" y="4373626"/>
            <a:ext cx="159004" cy="159004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6296659" y="3605988"/>
            <a:ext cx="2287270" cy="96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Interactive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slicers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Category</a:t>
            </a:r>
            <a:endParaRPr sz="1100">
              <a:latin typeface="Calibri"/>
              <a:cs typeface="Calibri"/>
            </a:endParaRPr>
          </a:p>
          <a:p>
            <a:pPr marL="12700" marR="113664">
              <a:lnSpc>
                <a:spcPct val="2291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Bar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charts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category,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profit Time-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monthly sales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trend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110"/>
              <a:t> </a:t>
            </a:r>
            <a:r>
              <a:rPr dirty="0" spc="-10"/>
              <a:t>Insights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7304" y="964745"/>
            <a:ext cx="4141470" cy="1581150"/>
            <a:chOff x="197304" y="964745"/>
            <a:chExt cx="4141470" cy="15811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304" y="964745"/>
              <a:ext cx="4141470" cy="158115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0039" y="1051560"/>
              <a:ext cx="3931920" cy="1371600"/>
            </a:xfrm>
            <a:custGeom>
              <a:avLst/>
              <a:gdLst/>
              <a:ahLst/>
              <a:cxnLst/>
              <a:rect l="l" t="t" r="r" b="b"/>
              <a:pathLst>
                <a:path w="3931920" h="1371600">
                  <a:moveTo>
                    <a:pt x="0" y="0"/>
                  </a:moveTo>
                  <a:lnTo>
                    <a:pt x="3931920" y="0"/>
                  </a:lnTo>
                  <a:lnTo>
                    <a:pt x="393192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20039" y="1051560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40" h="1371600">
                  <a:moveTo>
                    <a:pt x="91439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39" y="137160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0039" y="1051560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40" h="1371600">
                  <a:moveTo>
                    <a:pt x="0" y="0"/>
                  </a:moveTo>
                  <a:lnTo>
                    <a:pt x="91440" y="0"/>
                  </a:lnTo>
                  <a:lnTo>
                    <a:pt x="9144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11480" y="1051560"/>
            <a:ext cx="3840479" cy="1371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0D9488"/>
                </a:solidFill>
                <a:latin typeface="Calibri"/>
                <a:cs typeface="Calibri"/>
              </a:rPr>
              <a:t>01</a:t>
            </a:r>
            <a:endParaRPr sz="22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760"/>
              </a:spcBef>
            </a:pPr>
            <a:r>
              <a:rPr dirty="0" sz="1300" spc="-35" b="1">
                <a:solidFill>
                  <a:srgbClr val="1E293B"/>
                </a:solidFill>
                <a:latin typeface="Calibri"/>
                <a:cs typeface="Calibri"/>
              </a:rPr>
              <a:t>Top</a:t>
            </a:r>
            <a:r>
              <a:rPr dirty="0" sz="13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93B"/>
                </a:solidFill>
                <a:latin typeface="Calibri"/>
                <a:cs typeface="Calibri"/>
              </a:rPr>
              <a:t>Category</a:t>
            </a:r>
            <a:endParaRPr sz="1300">
              <a:latin typeface="Calibri"/>
              <a:cs typeface="Calibri"/>
            </a:endParaRPr>
          </a:p>
          <a:p>
            <a:pPr marL="182245" marR="363220">
              <a:lnSpc>
                <a:spcPct val="108300"/>
              </a:lnSpc>
              <a:spcBef>
                <a:spcPts val="1150"/>
              </a:spcBef>
            </a:pP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Technology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generates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the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highest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sales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revenue,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leading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in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both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volume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and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profit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margins.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449264" y="964745"/>
            <a:ext cx="4141470" cy="1581150"/>
            <a:chOff x="4449264" y="964745"/>
            <a:chExt cx="4141470" cy="158115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264" y="964745"/>
              <a:ext cx="4141469" cy="158115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571999" y="1051560"/>
              <a:ext cx="3931920" cy="1371600"/>
            </a:xfrm>
            <a:custGeom>
              <a:avLst/>
              <a:gdLst/>
              <a:ahLst/>
              <a:cxnLst/>
              <a:rect l="l" t="t" r="r" b="b"/>
              <a:pathLst>
                <a:path w="3931920" h="1371600">
                  <a:moveTo>
                    <a:pt x="0" y="0"/>
                  </a:moveTo>
                  <a:lnTo>
                    <a:pt x="3931920" y="0"/>
                  </a:lnTo>
                  <a:lnTo>
                    <a:pt x="393192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71999" y="1051560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39" h="1371600">
                  <a:moveTo>
                    <a:pt x="91439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39" y="137160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71999" y="1051560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39" h="1371600">
                  <a:moveTo>
                    <a:pt x="0" y="0"/>
                  </a:moveTo>
                  <a:lnTo>
                    <a:pt x="91440" y="0"/>
                  </a:lnTo>
                  <a:lnTo>
                    <a:pt x="9144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59E0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663440" y="1051560"/>
            <a:ext cx="3840479" cy="1371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F59E0B"/>
                </a:solidFill>
                <a:latin typeface="Calibri"/>
                <a:cs typeface="Calibri"/>
              </a:rPr>
              <a:t>02</a:t>
            </a:r>
            <a:endParaRPr sz="22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760"/>
              </a:spcBef>
            </a:pPr>
            <a:r>
              <a:rPr dirty="0" sz="1300" spc="-35" b="1">
                <a:solidFill>
                  <a:srgbClr val="1E293B"/>
                </a:solidFill>
                <a:latin typeface="Calibri"/>
                <a:cs typeface="Calibri"/>
              </a:rPr>
              <a:t>Top</a:t>
            </a:r>
            <a:r>
              <a:rPr dirty="0" sz="1300" spc="-2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93B"/>
                </a:solidFill>
                <a:latin typeface="Calibri"/>
                <a:cs typeface="Calibri"/>
              </a:rPr>
              <a:t>Region</a:t>
            </a:r>
            <a:endParaRPr sz="1300">
              <a:latin typeface="Calibri"/>
              <a:cs typeface="Calibri"/>
            </a:endParaRPr>
          </a:p>
          <a:p>
            <a:pPr marL="182880" marR="468630">
              <a:lnSpc>
                <a:spcPct val="108300"/>
              </a:lnSpc>
              <a:spcBef>
                <a:spcPts val="1150"/>
              </a:spcBef>
            </a:pP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West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region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contributes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most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revenue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a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key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market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 for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strategic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investment.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97304" y="2564945"/>
            <a:ext cx="4141470" cy="1581150"/>
            <a:chOff x="197304" y="2564945"/>
            <a:chExt cx="4141470" cy="158115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304" y="2564945"/>
              <a:ext cx="4141470" cy="158114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20039" y="2651759"/>
              <a:ext cx="3931920" cy="1371600"/>
            </a:xfrm>
            <a:custGeom>
              <a:avLst/>
              <a:gdLst/>
              <a:ahLst/>
              <a:cxnLst/>
              <a:rect l="l" t="t" r="r" b="b"/>
              <a:pathLst>
                <a:path w="3931920" h="1371600">
                  <a:moveTo>
                    <a:pt x="0" y="0"/>
                  </a:moveTo>
                  <a:lnTo>
                    <a:pt x="3931920" y="0"/>
                  </a:lnTo>
                  <a:lnTo>
                    <a:pt x="393192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0039" y="2651759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40" h="1371600">
                  <a:moveTo>
                    <a:pt x="91439" y="0"/>
                  </a:moveTo>
                  <a:lnTo>
                    <a:pt x="0" y="0"/>
                  </a:lnTo>
                  <a:lnTo>
                    <a:pt x="0" y="1371599"/>
                  </a:lnTo>
                  <a:lnTo>
                    <a:pt x="91439" y="137159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20039" y="2651759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40" h="1371600">
                  <a:moveTo>
                    <a:pt x="0" y="0"/>
                  </a:moveTo>
                  <a:lnTo>
                    <a:pt x="91440" y="0"/>
                  </a:lnTo>
                  <a:lnTo>
                    <a:pt x="9144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6366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11480" y="2651760"/>
            <a:ext cx="3840479" cy="1371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6366F1"/>
                </a:solidFill>
                <a:latin typeface="Calibri"/>
                <a:cs typeface="Calibri"/>
              </a:rPr>
              <a:t>03</a:t>
            </a:r>
            <a:endParaRPr sz="22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760"/>
              </a:spcBef>
            </a:pPr>
            <a:r>
              <a:rPr dirty="0" sz="1300" b="1">
                <a:solidFill>
                  <a:srgbClr val="1E293B"/>
                </a:solidFill>
                <a:latin typeface="Calibri"/>
                <a:cs typeface="Calibri"/>
              </a:rPr>
              <a:t>Best</a:t>
            </a:r>
            <a:r>
              <a:rPr dirty="0" sz="1300" spc="-1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93B"/>
                </a:solidFill>
                <a:latin typeface="Calibri"/>
                <a:cs typeface="Calibri"/>
              </a:rPr>
              <a:t>Profitability</a:t>
            </a:r>
            <a:endParaRPr sz="1300">
              <a:latin typeface="Calibri"/>
              <a:cs typeface="Calibri"/>
            </a:endParaRPr>
          </a:p>
          <a:p>
            <a:pPr marL="182245" marR="595630">
              <a:lnSpc>
                <a:spcPct val="108300"/>
              </a:lnSpc>
              <a:spcBef>
                <a:spcPts val="1150"/>
              </a:spcBef>
            </a:pP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Technology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segment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also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leads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in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profit,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making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it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the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most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valuable</a:t>
            </a:r>
            <a:r>
              <a:rPr dirty="0" sz="10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category</a:t>
            </a:r>
            <a:r>
              <a:rPr dirty="0" sz="10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overall.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449264" y="2564945"/>
            <a:ext cx="4141470" cy="1581150"/>
            <a:chOff x="4449264" y="2564945"/>
            <a:chExt cx="4141470" cy="1581150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264" y="2564945"/>
              <a:ext cx="4141469" cy="158114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571999" y="2651759"/>
              <a:ext cx="3931920" cy="1371600"/>
            </a:xfrm>
            <a:custGeom>
              <a:avLst/>
              <a:gdLst/>
              <a:ahLst/>
              <a:cxnLst/>
              <a:rect l="l" t="t" r="r" b="b"/>
              <a:pathLst>
                <a:path w="3931920" h="1371600">
                  <a:moveTo>
                    <a:pt x="0" y="0"/>
                  </a:moveTo>
                  <a:lnTo>
                    <a:pt x="3931920" y="0"/>
                  </a:lnTo>
                  <a:lnTo>
                    <a:pt x="393192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71999" y="2651759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39" h="1371600">
                  <a:moveTo>
                    <a:pt x="91439" y="0"/>
                  </a:moveTo>
                  <a:lnTo>
                    <a:pt x="0" y="0"/>
                  </a:lnTo>
                  <a:lnTo>
                    <a:pt x="0" y="1371599"/>
                  </a:lnTo>
                  <a:lnTo>
                    <a:pt x="91439" y="137159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EC4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571999" y="2651759"/>
              <a:ext cx="91440" cy="1371600"/>
            </a:xfrm>
            <a:custGeom>
              <a:avLst/>
              <a:gdLst/>
              <a:ahLst/>
              <a:cxnLst/>
              <a:rect l="l" t="t" r="r" b="b"/>
              <a:pathLst>
                <a:path w="91439" h="1371600">
                  <a:moveTo>
                    <a:pt x="0" y="0"/>
                  </a:moveTo>
                  <a:lnTo>
                    <a:pt x="91440" y="0"/>
                  </a:lnTo>
                  <a:lnTo>
                    <a:pt x="9144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C4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63440" y="2651760"/>
            <a:ext cx="3840479" cy="1371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620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dirty="0" sz="2200" spc="-25" b="1">
                <a:solidFill>
                  <a:srgbClr val="EC4899"/>
                </a:solidFill>
                <a:latin typeface="Calibri"/>
                <a:cs typeface="Calibri"/>
              </a:rPr>
              <a:t>04</a:t>
            </a:r>
            <a:endParaRPr sz="22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760"/>
              </a:spcBef>
            </a:pPr>
            <a:r>
              <a:rPr dirty="0" sz="1300" b="1">
                <a:solidFill>
                  <a:srgbClr val="1E293B"/>
                </a:solidFill>
                <a:latin typeface="Calibri"/>
                <a:cs typeface="Calibri"/>
              </a:rPr>
              <a:t>Monthly</a:t>
            </a:r>
            <a:r>
              <a:rPr dirty="0" sz="1300" spc="-55" b="1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93B"/>
                </a:solidFill>
                <a:latin typeface="Calibri"/>
                <a:cs typeface="Calibri"/>
              </a:rPr>
              <a:t>Trends</a:t>
            </a:r>
            <a:endParaRPr sz="1300">
              <a:latin typeface="Calibri"/>
              <a:cs typeface="Calibri"/>
            </a:endParaRPr>
          </a:p>
          <a:p>
            <a:pPr marL="182880" marR="434975">
              <a:lnSpc>
                <a:spcPct val="108300"/>
              </a:lnSpc>
              <a:spcBef>
                <a:spcPts val="1150"/>
              </a:spcBef>
            </a:pP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Sales</a:t>
            </a:r>
            <a:r>
              <a:rPr dirty="0" sz="10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fluctuate</a:t>
            </a:r>
            <a:r>
              <a:rPr dirty="0" sz="10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across</a:t>
            </a:r>
            <a:r>
              <a:rPr dirty="0" sz="10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months,</a:t>
            </a:r>
            <a:r>
              <a:rPr dirty="0" sz="10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revealing</a:t>
            </a:r>
            <a:r>
              <a:rPr dirty="0" sz="10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seasonal</a:t>
            </a:r>
            <a:r>
              <a:rPr dirty="0" sz="10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patterns</a:t>
            </a:r>
            <a:r>
              <a:rPr dirty="0" sz="10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94A3B8"/>
                </a:solidFill>
                <a:latin typeface="Calibri"/>
                <a:cs typeface="Calibri"/>
              </a:rPr>
              <a:t>and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 peak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demand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 periods.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13690" y="4337050"/>
            <a:ext cx="8516620" cy="561340"/>
            <a:chOff x="313690" y="4337050"/>
            <a:chExt cx="8516620" cy="561340"/>
          </a:xfrm>
        </p:grpSpPr>
        <p:sp>
          <p:nvSpPr>
            <p:cNvPr id="28" name="object 28" descr=""/>
            <p:cNvSpPr/>
            <p:nvPr/>
          </p:nvSpPr>
          <p:spPr>
            <a:xfrm>
              <a:off x="320040" y="4343400"/>
              <a:ext cx="8503920" cy="548640"/>
            </a:xfrm>
            <a:custGeom>
              <a:avLst/>
              <a:gdLst/>
              <a:ahLst/>
              <a:cxnLst/>
              <a:rect l="l" t="t" r="r" b="b"/>
              <a:pathLst>
                <a:path w="8503920" h="548639">
                  <a:moveTo>
                    <a:pt x="0" y="0"/>
                  </a:moveTo>
                  <a:lnTo>
                    <a:pt x="8503920" y="0"/>
                  </a:lnTo>
                  <a:lnTo>
                    <a:pt x="850392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20040" y="4343400"/>
              <a:ext cx="91440" cy="548640"/>
            </a:xfrm>
            <a:custGeom>
              <a:avLst/>
              <a:gdLst/>
              <a:ahLst/>
              <a:cxnLst/>
              <a:rect l="l" t="t" r="r" b="b"/>
              <a:pathLst>
                <a:path w="91440" h="548639">
                  <a:moveTo>
                    <a:pt x="91439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91439" y="54864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20040" y="4343400"/>
              <a:ext cx="91440" cy="548640"/>
            </a:xfrm>
            <a:custGeom>
              <a:avLst/>
              <a:gdLst/>
              <a:ahLst/>
              <a:cxnLst/>
              <a:rect l="l" t="t" r="r" b="b"/>
              <a:pathLst>
                <a:path w="91440" h="548639">
                  <a:moveTo>
                    <a:pt x="0" y="0"/>
                  </a:moveTo>
                  <a:lnTo>
                    <a:pt x="91440" y="0"/>
                  </a:lnTo>
                  <a:lnTo>
                    <a:pt x="914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411480" y="4343400"/>
            <a:ext cx="8418830" cy="548640"/>
          </a:xfrm>
          <a:prstGeom prst="rect">
            <a:avLst/>
          </a:prstGeom>
          <a:solidFill>
            <a:srgbClr val="0F2044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8600" marR="789305">
              <a:lnSpc>
                <a:spcPts val="1300"/>
              </a:lnSpc>
              <a:spcBef>
                <a:spcPts val="650"/>
              </a:spcBef>
            </a:pP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Conclusion:</a:t>
            </a:r>
            <a:r>
              <a:rPr dirty="0" sz="1100" spc="2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clear,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actionable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empowering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stakeholders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informed,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 data-</a:t>
            </a:r>
            <a:r>
              <a:rPr dirty="0" sz="1100" i="1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r>
              <a:rPr dirty="0" sz="11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FFFFFF"/>
                </a:solidFill>
                <a:latin typeface="Calibri"/>
                <a:cs typeface="Calibri"/>
              </a:rPr>
              <a:t>business decisions.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Elevate</a:t>
            </a:r>
            <a:r>
              <a:rPr dirty="0" spc="-35"/>
              <a:t> </a:t>
            </a:r>
            <a:r>
              <a:rPr dirty="0"/>
              <a:t>Labs</a:t>
            </a:r>
            <a:r>
              <a:rPr dirty="0" spc="-30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Sagar</a:t>
            </a:r>
            <a:r>
              <a:rPr dirty="0" spc="-30"/>
              <a:t> </a:t>
            </a:r>
            <a:r>
              <a:rPr dirty="0" spc="-25"/>
              <a:t>NM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Superstore_Dashboard_Summary</dc:title>
  <dcterms:created xsi:type="dcterms:W3CDTF">2026-04-14T15:43:14Z</dcterms:created>
  <dcterms:modified xsi:type="dcterms:W3CDTF">2026-04-14T15:43:14Z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2026-04-14T00:00:00Z</vt:filetime>
  </property>
  <property fmtid="{D5CDD505-2E9C-101B-9397-08002B2CF9AE}" pid="3" name="Creator">
    <vt:lpwstr>Keynote</vt:lpwstr>
  </property>
  <property fmtid="{D5CDD505-2E9C-101B-9397-08002B2CF9AE}" pid="4" name="LastSaved">
    <vt:filetime>2026-04-14T00:00:00Z</vt:filetime>
  </property>
  <property fmtid="{D5CDD505-2E9C-101B-9397-08002B2CF9AE}" pid="5" name="Producer">
    <vt:lpwstr>macOS Version 26.3.1 (Build 25D2128) Quartz PDFContext</vt:lpwstr>
  </property>
</Properties>
</file>